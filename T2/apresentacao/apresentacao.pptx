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3"/>
  </p:sldMasterIdLst>
  <p:notesMasterIdLst>
    <p:notesMasterId r:id="rId4"/>
  </p:notesMasterIdLst>
  <p:sldIdLst>
    <p:sldId id="256" r:id="rId5"/>
    <p:sldId id="257" r:id="rId6"/>
    <p:sldId id="260" r:id="rId7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59" r:id="rId8"/>
  </p:sldIdLst>
  <p:sldSz cy="5143500" cx="9144000"/>
  <p:notesSz cx="6858000" cy="9144000"/>
  <p:embeddedFontLst>
    <p:embeddedFont>
      <p:font typeface="Albert Sans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13.xml"/><Relationship Id="rId9" Type="http://schemas.openxmlformats.org/officeDocument/2006/relationships/font" Target="fonts/AlbertSans-regular.fntdata"/><Relationship Id="rId10" Type="http://schemas.openxmlformats.org/officeDocument/2006/relationships/font" Target="fonts/AlbertSans-bold.fntdata"/><Relationship Id="rId11" Type="http://schemas.openxmlformats.org/officeDocument/2006/relationships/font" Target="fonts/AlbertSans-italic.fntdata"/><Relationship Id="rId12" Type="http://schemas.openxmlformats.org/officeDocument/2006/relationships/font" Target="fonts/AlbertSans-boldItalic.fntdata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Capa (~20 s). Bom dia. Nosso trabalho e o problema Counting Rooms, o 1192 do CSES. A ideia e contar quantas salas existem em um mapa, e vamos mostrar como isso vira um problema de grafos.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 (~40 s). Temos n cidades e m voos, e cada voo é de mão única: vai de a para b e não volta. A pergunta é: saindo de qualquer cidade, dá para chegar em qualquer outra? Se sim, YES. Se não, NO e um par de cidades a, b em que não existe rota de a para b. No exemplo, 1, 2 e 3 giram num ciclo, mas a cidade 4 só recebe voos, nunca sai. Então a resposta é NO, por exemplo 4 2. E as restrições são grandes: até cem mil cidades e duzentos mil voos, então precisamos de algo linear.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 (~40 s). O nome técnico do que o problema pede é conectividade forte: para todo par v e w, existe caminho de v até w e também de w até v. Os vértices que se alcançam nos dois sentidos formam uma componente fortemente conexa. No exemplo são duas: o ciclo 1, 2, 3 e o 4 sozinho. Então a pergunta inteira vira: o grafo tem exatamente uma componente? Detalhe importante: ignorar a direção dos voos daria YES aqui, o que está errado.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3 (~50 s). Este é o ponto de virada. Pegue um grafo maior, com quatro componentes: A, B, C e D. Se eu contrair cada componente num vértice só, eu obtenho o grafo condensado, à direita. E ele nunca tem ciclo: se existisse um ciclo entre A e B, todo mundo de A alcançaria B e vice-versa, então A e B seriam uma componente só. Ou seja, o grafo condensado é sempre um DAG. E todo DAG tem pelo menos uma fonte, onde nada chega, e um sumidouro, de onde nada sai. Guardem o sumidouro.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4 (~50 s). Ordem topológica é colocar os vértices numa fila de forma que toda seta aponte para a frente. O exemplo do dia a dia é a nossa grade curricular: Matemática Discreta e Programação vêm antes de Estruturas de Dados, que vem antes de Grafos. Qualquer ordem em que você nunca cursa uma disciplina antes do pré-requisito é uma ordem topológica — e ela não é única. Ela só existe em DAG: num ciclo ninguém pode ser o primeiro. Por isso o slide anterior importa: o grafo condensado é um DAG, então ele tem ordem topológica. E a consequência que vamos usar: o primeiro da ordem é sempre uma fonte; o último, um sumidouro.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5 (~50 s). Como achar essa ordem? Com uma DFS comum e uma pilha. Toda vez que um vértice termina — ou seja, a DFS já explorou tudo o que sai dele — ele é empilhado. No final, lendo a pilha do topo, temos a pós-ordem reversa. Aqui: a DFS sai de A, desce B, desce D. D termina primeiro, depois B, depois C, e por último A. A pilha fica A, C, B, D — uma ordem topológica. O motivo é simples: se existe a seta v para w, w termina antes de v, então v fica acima na pilha. E o fato que vamos usar: mesmo num grafo com ciclos, o primeiro vértice dessa ordem sempre cai numa componente fonte.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6 (~1 min). Este é o slide central. Quero contar componentes com DFS em G, uma DFS por componente. O problema é onde começar. Se eu começo em A, que é fonte, a DFS vaza pelas setas e pinta A, B, C e D juntos — mistura tudo. Se eu começo em D, que é sumidouro, não há seta saindo: a DFS pinta só D. Exatamente uma componente. Depois disso, entre o que sobrou, alguém vira o novo sumidouro, e o raciocínio se repete. Falta só achar os sumidouros. E aí entra o truque: inverta todas as setas. O sumidouro de G vira fonte de G transposto, e as componentes continuam as mesmas, porque inverter não desfaz ciclo. E fonte nós sabemos achar: é o primeiro da pós-ordem reversa. Então a ordem topológica de G transposto entrega os sumidouros de G primeiro. É isso que basta.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7 (~50 s). Juntando tudo, temos o algoritmo de Kosaraju-Sharir, que é o KosarajuSharirSCC do algs4. Fase 1: DFS em G transposto, só para obter a pós-ordem reversa. No exemplo ela dá 4, 1, 3, 2 — e o 4 vem primeiro, que é justamente o sumidouro de G. Fase 2: DFS em G, nessa ordem. Começa no 4: ele não tem saída, marca só ele, componente 0. Depois o 1: a DFS anda por 2 e 3, tenta ir para o 4, mas ele já está marcado — é isso que impede a mistura. Componente 1. O 3 e o 2 já estão marcados e são pulados. Resultado: count igual a 2.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8 (~40 s). A resposta sai direto do resultado. Se count é 1, YES. Se não, NO, e o par também sai de graça: a componente de id 0 foi a primeira marcada, então ela é um sumidouro — nenhuma seta sai dela. Basta pegar qualquer a com id 0 e qualquer b com id diferente de 0: não existe rota de a para b. No exemplo isso dá 4 1. O enunciado mostra 4 2, mas qualquer par válido é aceito, e os dois são válidos.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9 (~50 s). Agora um pouco de código, só o essencial. O grafo é um Digraph com listas de adjacência, uma Bag por vértice, e o método reverse gera G transposto. A fase 1 é o DepthFirstOrder, que empilha cada vértice ao terminar numa Stack. A fase 2 é este laço: percorre a pilha e, a cada vértice não marcado, dispara uma DFS que grava o id, e soma um no count. São duas DFS mais a construção de G transposto: tempo O de V mais E. Um detalhe prático: a recursão pode ter cem mil níveis, num ciclo que passa por todas as cidades, e estoura a pilha padrão da JVM. Diferente do T1, aqui não dá para trocar por BFS, porque a BFS não tem pós-ordem. Então mantivemos a DFS e rodamos numa Thread com 256 MB de pilha.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10 (~40 s). Testamos oito casos pequenos e cinco de estresse, todos corretos. Como o NO aceita qualquer par, cada resposta NO foi conferida por um verificador, que roda uma BFS a partir de a e confirma que b não é alcançado. O caso de propósito é o de dois ciclos ligados num só sentido: tratando o grafo como não direcionado daria YES, e o certo é NO. O código recebeu Accepted no CSES nos 20 testes, com pior tempo de 0,97 segundo contra limite de 1 segundo. Resumindo: o problema era conectividade forte, e a ordem topológica do grafo transposto é o que faz cada DFS marcar exatamente uma componente. Obrigado.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- Claro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- Claro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4" name="Google Shape;14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Font typeface="Albert Sans"/>
              <a:buNone/>
              <a:defRPr sz="43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24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- Claro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48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/>
          <p:nvPr>
            <p:ph type="title"/>
          </p:nvPr>
        </p:nvSpPr>
        <p:spPr>
          <a:xfrm>
            <a:off x="745875" y="230200"/>
            <a:ext cx="7818000" cy="13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702350" y="1688325"/>
            <a:ext cx="7766400" cy="24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3 - Claro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"/>
              <a:buNone/>
              <a:defRPr b="1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269625"/>
            <a:ext cx="8520600" cy="34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2 - Claro">
  <p:cSld name="BLANK_2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colunas - Claro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489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686600"/>
            <a:ext cx="3924300" cy="37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"/>
              <a:buNone/>
              <a:defRPr b="1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4889400" y="756375"/>
            <a:ext cx="3924300" cy="34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bert Sans"/>
              <a:buChar char="●"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ês colunas - Claro">
  <p:cSld name="TITLE_ONLY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8"/>
          <p:cNvSpPr txBox="1"/>
          <p:nvPr>
            <p:ph idx="1" type="body"/>
          </p:nvPr>
        </p:nvSpPr>
        <p:spPr>
          <a:xfrm>
            <a:off x="229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bert Sans"/>
              <a:buChar char="●"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34" name="Google Shape;34;p8"/>
          <p:cNvSpPr txBox="1"/>
          <p:nvPr>
            <p:ph idx="2" type="body"/>
          </p:nvPr>
        </p:nvSpPr>
        <p:spPr>
          <a:xfrm>
            <a:off x="3277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bert Sans"/>
              <a:buChar char="●"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3" type="body"/>
          </p:nvPr>
        </p:nvSpPr>
        <p:spPr>
          <a:xfrm>
            <a:off x="6325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bert Sans"/>
              <a:buChar char="●"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vre - Claro">
  <p:cSld name="TITLE_ONLY_1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9"/>
          <p:cNvSpPr txBox="1"/>
          <p:nvPr>
            <p:ph idx="1" type="body"/>
          </p:nvPr>
        </p:nvSpPr>
        <p:spPr>
          <a:xfrm>
            <a:off x="540150" y="538950"/>
            <a:ext cx="8063700" cy="40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- Escuro">
  <p:cSld name="BLANK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1" name="Google Shape;41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subtítulo - Escuro">
  <p:cSld name="ONE_COLUM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44" name="Google Shape;44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1"/>
          <p:cNvSpPr txBox="1"/>
          <p:nvPr>
            <p:ph idx="2"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Albert Sans"/>
              <a:buNone/>
              <a:defRPr b="1" sz="43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b="1" sz="43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b="1" sz="43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b="1" sz="43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b="1" sz="43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b="1" sz="43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b="1" sz="43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b="1" sz="43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b="1" sz="43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bert Sans"/>
              <a:buNone/>
              <a:defRPr sz="24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- Escuro">
  <p:cSld name="MAIN_POIN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0" name="Google Shape;50;p12"/>
          <p:cNvSpPr txBox="1"/>
          <p:nvPr>
            <p:ph type="title"/>
          </p:nvPr>
        </p:nvSpPr>
        <p:spPr>
          <a:xfrm>
            <a:off x="745875" y="230200"/>
            <a:ext cx="7818000" cy="13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b="1"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51" name="Google Shape;51;p12"/>
          <p:cNvSpPr txBox="1"/>
          <p:nvPr>
            <p:ph idx="1" type="body"/>
          </p:nvPr>
        </p:nvSpPr>
        <p:spPr>
          <a:xfrm>
            <a:off x="702350" y="1688325"/>
            <a:ext cx="7766400" cy="24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3 - Escuro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lbert Sans"/>
              <a:buNone/>
              <a:defRPr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269625"/>
            <a:ext cx="8520600" cy="34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colunas - Escuro">
  <p:cSld name="BIG_NUMB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/>
          <p:nvPr>
            <p:ph type="title"/>
          </p:nvPr>
        </p:nvSpPr>
        <p:spPr>
          <a:xfrm>
            <a:off x="311700" y="1432500"/>
            <a:ext cx="3924300" cy="22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lbert Sans"/>
              <a:buNone/>
              <a:defRPr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4889400" y="756375"/>
            <a:ext cx="3924300" cy="34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lbert Sans"/>
              <a:buChar char="●"/>
              <a:defRPr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ês colunas - Escuro">
  <p:cSld name="BIG_NUMBER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229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lbert Sans"/>
              <a:buChar char="●"/>
              <a:defRPr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2" type="body"/>
          </p:nvPr>
        </p:nvSpPr>
        <p:spPr>
          <a:xfrm>
            <a:off x="3277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lbert Sans"/>
              <a:buChar char="●"/>
              <a:defRPr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3" type="body"/>
          </p:nvPr>
        </p:nvSpPr>
        <p:spPr>
          <a:xfrm>
            <a:off x="6325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lbert Sans"/>
              <a:buChar char="●"/>
              <a:defRPr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vre - Escuro">
  <p:cSld name="BIG_NUMBER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6"/>
          <p:cNvSpPr txBox="1"/>
          <p:nvPr>
            <p:ph idx="1" type="body"/>
          </p:nvPr>
        </p:nvSpPr>
        <p:spPr>
          <a:xfrm>
            <a:off x="540150" y="538950"/>
            <a:ext cx="8063700" cy="40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2 - Escuro">
  <p:cSld name="BLANK_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2 - Claro" type="tx">
  <p:cSld name="TITLE_AND_BOD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8"/>
          <p:cNvSpPr txBox="1"/>
          <p:nvPr>
            <p:ph type="title"/>
          </p:nvPr>
        </p:nvSpPr>
        <p:spPr>
          <a:xfrm>
            <a:off x="699850" y="709050"/>
            <a:ext cx="7698300" cy="16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Albert Sans"/>
              <a:buNone/>
              <a:defRPr b="1" sz="33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73" name="Google Shape;73;p18"/>
          <p:cNvSpPr txBox="1"/>
          <p:nvPr>
            <p:ph idx="1" type="subTitle"/>
          </p:nvPr>
        </p:nvSpPr>
        <p:spPr>
          <a:xfrm>
            <a:off x="699850" y="3272450"/>
            <a:ext cx="7698300" cy="8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2 - Escuro">
  <p:cSld name="SECTION_TITLE_AND_DESCRIPTION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9"/>
          <p:cNvSpPr txBox="1"/>
          <p:nvPr>
            <p:ph type="title"/>
          </p:nvPr>
        </p:nvSpPr>
        <p:spPr>
          <a:xfrm>
            <a:off x="699850" y="709050"/>
            <a:ext cx="7698300" cy="16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lbert Sans"/>
              <a:buNone/>
              <a:defRPr b="1" sz="33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9"/>
          <p:cNvSpPr txBox="1"/>
          <p:nvPr>
            <p:ph idx="1" type="subTitle"/>
          </p:nvPr>
        </p:nvSpPr>
        <p:spPr>
          <a:xfrm>
            <a:off x="699850" y="3272450"/>
            <a:ext cx="7698300" cy="8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4300"/>
              <a:buNone/>
            </a:pPr>
            <a:r>
              <a:rPr sz="4000" b="1">
                <a:solidFill>
                  <a:srgbClr val="132190"/>
                </a:solidFill>
                <a:latin typeface="Arial"/>
              </a:rPr>
              <a:t>Flight Routes Check</a:t>
            </a:r>
            <a:endParaRPr b="1"/>
          </a:p>
        </p:txBody>
      </p:sp>
      <p:sp>
        <p:nvSpPr>
          <p:cNvPr id="87" name="Google Shape;87;p21"/>
          <p:cNvSpPr txBox="1"/>
          <p:nvPr>
            <p:ph idx="1" type="subTitle"/>
          </p:nvPr>
        </p:nvSpPr>
        <p:spPr>
          <a:xfrm>
            <a:off x="311700" y="2834125"/>
            <a:ext cx="8520600" cy="17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SzPts val="2400"/>
              <a:buNone/>
            </a:pPr>
            <a:r>
              <a:rPr sz="1800" b="0">
                <a:solidFill>
                  <a:srgbClr val="004AF7"/>
                </a:solidFill>
                <a:latin typeface="Arial"/>
              </a:rPr>
              <a:t>CSES 1682 — conectividade forte com ordem topológica</a:t>
            </a:r>
            <a:endParaRPr sz="2000"/>
          </a:p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1A1A1A"/>
                </a:solidFill>
                <a:latin typeface="Arial"/>
              </a:rPr>
              <a:t>Alunos: Enzo Esmeraldo | Gustavo Andrade</a:t>
            </a:r>
          </a:p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Orientador: Prof. Me. Ricardo Carubbi</a:t>
            </a:r>
          </a:p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Disciplina: Resolução de Problemas com Grafos</a:t>
            </a:r>
          </a:p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Centro de Ciências Tecnológicas - CCT</a:t>
            </a:r>
          </a:p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Universidade de Fortaleza - UNIFOR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274320"/>
            <a:ext cx="7818120" cy="1051560"/>
          </a:xfrm>
        </p:spPr>
        <p:txBody>
          <a:bodyPr/>
          <a:lstStyle/>
          <a:p>
            <a:pPr algn="l">
              <a:spcAft>
                <a:spcPts val="200"/>
              </a:spcAft>
            </a:pPr>
            <a:r>
              <a:rPr sz="2850" b="1" i="0">
                <a:solidFill>
                  <a:srgbClr val="132190"/>
                </a:solidFill>
                <a:latin typeface="Arial"/>
              </a:rPr>
              <a:t>O problema</a:t>
            </a:r>
          </a:p>
          <a:p>
            <a:pPr algn="l"/>
            <a:r>
              <a:rPr sz="1500" b="0" i="0">
                <a:solidFill>
                  <a:srgbClr val="004AF7"/>
                </a:solidFill>
                <a:latin typeface="Arial"/>
              </a:rPr>
              <a:t>CSES 1682 — Flight Routes Check</a:t>
            </a:r>
          </a:p>
        </p:txBody>
      </p:sp>
      <p:sp>
        <p:nvSpPr>
          <p:cNvPr id="3" name="Texto"/>
          <p:cNvSpPr txBox="1"/>
          <p:nvPr/>
        </p:nvSpPr>
        <p:spPr>
          <a:xfrm>
            <a:off x="731520" y="1554480"/>
            <a:ext cx="384048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n cidades e m voos de mão única (a → b)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De qualquer cidade dá para chegar a qualquer outra?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Sim → YES.  Não → NO + um par a b sem rota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132190"/>
                </a:solidFill>
                <a:latin typeface="Arial"/>
              </a:rPr>
              <a:t>n ≤ 10⁵ e m ≤ 2·10⁵ → precisa ser linear</a:t>
            </a:r>
          </a:p>
        </p:txBody>
      </p:sp>
      <p:sp>
        <p:nvSpPr>
          <p:cNvPr id="4" name="Card"/>
          <p:cNvSpPr/>
          <p:nvPr/>
        </p:nvSpPr>
        <p:spPr>
          <a:xfrm>
            <a:off x="4892040" y="1417320"/>
            <a:ext cx="356616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9D5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" name="Seta"/>
          <p:cNvCxnSpPr/>
          <p:nvPr/>
        </p:nvCxnSpPr>
        <p:spPr>
          <a:xfrm>
            <a:off x="5641848" y="1783080"/>
            <a:ext cx="882396" cy="0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eta"/>
          <p:cNvCxnSpPr/>
          <p:nvPr/>
        </p:nvCxnSpPr>
        <p:spPr>
          <a:xfrm>
            <a:off x="6743700" y="1984248"/>
            <a:ext cx="0" cy="448056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eta"/>
          <p:cNvCxnSpPr/>
          <p:nvPr/>
        </p:nvCxnSpPr>
        <p:spPr>
          <a:xfrm flipH="1" flipV="1">
            <a:off x="5623278" y="1904812"/>
            <a:ext cx="953040" cy="635360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eta"/>
          <p:cNvCxnSpPr/>
          <p:nvPr/>
        </p:nvCxnSpPr>
        <p:spPr>
          <a:xfrm>
            <a:off x="5440680" y="1984248"/>
            <a:ext cx="0" cy="1099565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eta"/>
          <p:cNvCxnSpPr/>
          <p:nvPr/>
        </p:nvCxnSpPr>
        <p:spPr>
          <a:xfrm flipH="1">
            <a:off x="5636967" y="2741725"/>
            <a:ext cx="926802" cy="463401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ertice 1"/>
          <p:cNvSpPr/>
          <p:nvPr/>
        </p:nvSpPr>
        <p:spPr>
          <a:xfrm>
            <a:off x="5239512" y="158191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321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32190"/>
                </a:solidFill>
                <a:latin typeface="Arial"/>
              </a:rPr>
              <a:t>1</a:t>
            </a:r>
          </a:p>
        </p:txBody>
      </p:sp>
      <p:sp>
        <p:nvSpPr>
          <p:cNvPr id="11" name="Vertice 2"/>
          <p:cNvSpPr/>
          <p:nvPr/>
        </p:nvSpPr>
        <p:spPr>
          <a:xfrm>
            <a:off x="6542532" y="158191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321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32190"/>
                </a:solidFill>
                <a:latin typeface="Arial"/>
              </a:rPr>
              <a:t>2</a:t>
            </a:r>
          </a:p>
        </p:txBody>
      </p:sp>
      <p:sp>
        <p:nvSpPr>
          <p:cNvPr id="12" name="Vertice 3"/>
          <p:cNvSpPr/>
          <p:nvPr/>
        </p:nvSpPr>
        <p:spPr>
          <a:xfrm>
            <a:off x="6542532" y="2450591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321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32190"/>
                </a:solidFill>
                <a:latin typeface="Arial"/>
              </a:rPr>
              <a:t>3</a:t>
            </a:r>
          </a:p>
        </p:txBody>
      </p:sp>
      <p:sp>
        <p:nvSpPr>
          <p:cNvPr id="13" name="Vertice 4"/>
          <p:cNvSpPr/>
          <p:nvPr/>
        </p:nvSpPr>
        <p:spPr>
          <a:xfrm>
            <a:off x="5239512" y="3102101"/>
            <a:ext cx="402336" cy="402336"/>
          </a:xfrm>
          <a:prstGeom prst="ellipse">
            <a:avLst/>
          </a:prstGeom>
          <a:solidFill>
            <a:srgbClr val="FDE6D8"/>
          </a:solidFill>
          <a:ln w="1905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D9480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1691640"/>
            <a:ext cx="1143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 i="0">
                <a:solidFill>
                  <a:srgbClr val="5B6478"/>
                </a:solidFill>
                <a:latin typeface="Arial"/>
              </a:rPr>
              <a:t>Saída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1" i="0">
                <a:solidFill>
                  <a:srgbClr val="132190"/>
                </a:solidFill>
                <a:latin typeface="Consolas"/>
              </a:rPr>
              <a:t>NO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1" i="0">
                <a:solidFill>
                  <a:srgbClr val="132190"/>
                </a:solidFill>
                <a:latin typeface="Consolas"/>
              </a:rPr>
              <a:t>4 2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32918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D9480F"/>
                </a:solidFill>
                <a:latin typeface="Arial"/>
              </a:rPr>
              <a:t>a cidade 4 só recebe voos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274320"/>
            <a:ext cx="7818120" cy="1051560"/>
          </a:xfrm>
        </p:spPr>
        <p:txBody>
          <a:bodyPr/>
          <a:lstStyle/>
          <a:p>
            <a:pPr algn="l">
              <a:spcAft>
                <a:spcPts val="200"/>
              </a:spcAft>
            </a:pPr>
            <a:r>
              <a:rPr sz="2850" b="1" i="0">
                <a:solidFill>
                  <a:srgbClr val="132190"/>
                </a:solidFill>
                <a:latin typeface="Arial"/>
              </a:rPr>
              <a:t>O que realmente se pergunta</a:t>
            </a:r>
          </a:p>
          <a:p>
            <a:pPr algn="l"/>
            <a:r>
              <a:rPr sz="1500" b="0" i="0">
                <a:solidFill>
                  <a:srgbClr val="004AF7"/>
                </a:solidFill>
                <a:latin typeface="Arial"/>
              </a:rPr>
              <a:t>Conectividade forte e componentes f-conexas</a:t>
            </a:r>
          </a:p>
        </p:txBody>
      </p:sp>
      <p:sp>
        <p:nvSpPr>
          <p:cNvPr id="3" name="Texto"/>
          <p:cNvSpPr txBox="1"/>
          <p:nvPr/>
        </p:nvSpPr>
        <p:spPr>
          <a:xfrm>
            <a:off x="731520" y="1554480"/>
            <a:ext cx="393192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Fortemente conexo: para todo par v, w existe caminho v → w e w → v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Componente f-conexa: grupo máximo que se alcança nos dois sentidos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0" i="0">
                <a:solidFill>
                  <a:srgbClr val="5B6478"/>
                </a:solidFill>
                <a:latin typeface="Arial"/>
              </a:rPr>
              <a:t>Ignorar a direção dá YES aqui — errado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132190"/>
                </a:solidFill>
                <a:latin typeface="Arial"/>
              </a:rPr>
              <a:t>YES  ⇔  exatamente 1 componente f-conexa</a:t>
            </a:r>
          </a:p>
        </p:txBody>
      </p:sp>
      <p:sp>
        <p:nvSpPr>
          <p:cNvPr id="4" name="Card"/>
          <p:cNvSpPr/>
          <p:nvPr/>
        </p:nvSpPr>
        <p:spPr>
          <a:xfrm>
            <a:off x="4892040" y="1417320"/>
            <a:ext cx="356616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9D5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omponente"/>
          <p:cNvSpPr/>
          <p:nvPr/>
        </p:nvSpPr>
        <p:spPr>
          <a:xfrm>
            <a:off x="5148072" y="1490472"/>
            <a:ext cx="1888236" cy="1453895"/>
          </a:xfrm>
          <a:prstGeom prst="roundRect">
            <a:avLst>
              <a:gd name="adj" fmla="val 50000"/>
            </a:avLst>
          </a:prstGeom>
          <a:solidFill>
            <a:srgbClr val="DCE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ponente"/>
          <p:cNvSpPr/>
          <p:nvPr/>
        </p:nvSpPr>
        <p:spPr>
          <a:xfrm>
            <a:off x="5148072" y="3010662"/>
            <a:ext cx="585216" cy="585216"/>
          </a:xfrm>
          <a:prstGeom prst="roundRect">
            <a:avLst>
              <a:gd name="adj" fmla="val 50000"/>
            </a:avLst>
          </a:prstGeom>
          <a:solidFill>
            <a:srgbClr val="FD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Seta"/>
          <p:cNvCxnSpPr/>
          <p:nvPr/>
        </p:nvCxnSpPr>
        <p:spPr>
          <a:xfrm>
            <a:off x="5641848" y="1783080"/>
            <a:ext cx="882396" cy="0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eta"/>
          <p:cNvCxnSpPr/>
          <p:nvPr/>
        </p:nvCxnSpPr>
        <p:spPr>
          <a:xfrm>
            <a:off x="6743700" y="1984248"/>
            <a:ext cx="0" cy="448056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eta"/>
          <p:cNvCxnSpPr/>
          <p:nvPr/>
        </p:nvCxnSpPr>
        <p:spPr>
          <a:xfrm flipH="1" flipV="1">
            <a:off x="5623278" y="1904812"/>
            <a:ext cx="953040" cy="635360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eta"/>
          <p:cNvCxnSpPr/>
          <p:nvPr/>
        </p:nvCxnSpPr>
        <p:spPr>
          <a:xfrm>
            <a:off x="5440680" y="1984248"/>
            <a:ext cx="0" cy="1099565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eta"/>
          <p:cNvCxnSpPr/>
          <p:nvPr/>
        </p:nvCxnSpPr>
        <p:spPr>
          <a:xfrm flipH="1">
            <a:off x="5636967" y="2741725"/>
            <a:ext cx="926802" cy="463401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Vertice 1"/>
          <p:cNvSpPr/>
          <p:nvPr/>
        </p:nvSpPr>
        <p:spPr>
          <a:xfrm>
            <a:off x="5239512" y="158191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321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32190"/>
                </a:solidFill>
                <a:latin typeface="Arial"/>
              </a:rPr>
              <a:t>1</a:t>
            </a:r>
          </a:p>
        </p:txBody>
      </p:sp>
      <p:sp>
        <p:nvSpPr>
          <p:cNvPr id="13" name="Vertice 2"/>
          <p:cNvSpPr/>
          <p:nvPr/>
        </p:nvSpPr>
        <p:spPr>
          <a:xfrm>
            <a:off x="6542532" y="158191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321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32190"/>
                </a:solidFill>
                <a:latin typeface="Arial"/>
              </a:rPr>
              <a:t>2</a:t>
            </a:r>
          </a:p>
        </p:txBody>
      </p:sp>
      <p:sp>
        <p:nvSpPr>
          <p:cNvPr id="14" name="Vertice 3"/>
          <p:cNvSpPr/>
          <p:nvPr/>
        </p:nvSpPr>
        <p:spPr>
          <a:xfrm>
            <a:off x="6542532" y="2450591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321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32190"/>
                </a:solidFill>
                <a:latin typeface="Arial"/>
              </a:rPr>
              <a:t>3</a:t>
            </a:r>
          </a:p>
        </p:txBody>
      </p:sp>
      <p:sp>
        <p:nvSpPr>
          <p:cNvPr id="15" name="Vertice 4"/>
          <p:cNvSpPr/>
          <p:nvPr/>
        </p:nvSpPr>
        <p:spPr>
          <a:xfrm>
            <a:off x="5239512" y="3102101"/>
            <a:ext cx="402336" cy="402336"/>
          </a:xfrm>
          <a:prstGeom prst="ellipse">
            <a:avLst/>
          </a:prstGeom>
          <a:solidFill>
            <a:srgbClr val="FDE6D8"/>
          </a:solidFill>
          <a:ln w="1905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D9480F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1691640"/>
            <a:ext cx="1234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004AF7"/>
                </a:solidFill>
                <a:latin typeface="Arial"/>
              </a:rPr>
              <a:t>componente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004AF7"/>
                </a:solidFill>
                <a:latin typeface="Consolas"/>
              </a:rPr>
              <a:t>{1, 2, 3}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315468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D9480F"/>
                </a:solidFill>
                <a:latin typeface="Arial"/>
              </a:rPr>
              <a:t>componente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D9480F"/>
                </a:solidFill>
                <a:latin typeface="Consolas"/>
              </a:rPr>
              <a:t>{4}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274320"/>
            <a:ext cx="7818120" cy="1051560"/>
          </a:xfrm>
        </p:spPr>
        <p:txBody>
          <a:bodyPr/>
          <a:lstStyle/>
          <a:p>
            <a:pPr algn="l">
              <a:spcAft>
                <a:spcPts val="200"/>
              </a:spcAft>
            </a:pPr>
            <a:r>
              <a:rPr sz="2850" b="1" i="0">
                <a:solidFill>
                  <a:srgbClr val="132190"/>
                </a:solidFill>
                <a:latin typeface="Arial"/>
              </a:rPr>
              <a:t>Olhando de cima</a:t>
            </a:r>
          </a:p>
          <a:p>
            <a:pPr algn="l"/>
            <a:r>
              <a:rPr sz="1500" b="0" i="0">
                <a:solidFill>
                  <a:srgbClr val="004AF7"/>
                </a:solidFill>
                <a:latin typeface="Arial"/>
              </a:rPr>
              <a:t>Cada componente vira um vértice — e sobra um DAG</a:t>
            </a:r>
          </a:p>
        </p:txBody>
      </p:sp>
      <p:sp>
        <p:nvSpPr>
          <p:cNvPr id="3" name="Card"/>
          <p:cNvSpPr/>
          <p:nvPr/>
        </p:nvSpPr>
        <p:spPr>
          <a:xfrm>
            <a:off x="731520" y="1417320"/>
            <a:ext cx="420624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9D5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Componente"/>
          <p:cNvSpPr/>
          <p:nvPr/>
        </p:nvSpPr>
        <p:spPr>
          <a:xfrm>
            <a:off x="896112" y="1645920"/>
            <a:ext cx="1042415" cy="1371600"/>
          </a:xfrm>
          <a:prstGeom prst="roundRect">
            <a:avLst>
              <a:gd name="adj" fmla="val 50000"/>
            </a:avLst>
          </a:prstGeom>
          <a:solidFill>
            <a:srgbClr val="DCE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3044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132190"/>
                </a:solidFill>
                <a:latin typeface="Arial"/>
              </a:rPr>
              <a:t>A</a:t>
            </a:r>
          </a:p>
        </p:txBody>
      </p:sp>
      <p:sp>
        <p:nvSpPr>
          <p:cNvPr id="6" name="Componente"/>
          <p:cNvSpPr/>
          <p:nvPr/>
        </p:nvSpPr>
        <p:spPr>
          <a:xfrm>
            <a:off x="2313432" y="1627632"/>
            <a:ext cx="1225296" cy="493776"/>
          </a:xfrm>
          <a:prstGeom prst="roundRect">
            <a:avLst>
              <a:gd name="adj" fmla="val 50000"/>
            </a:avLst>
          </a:prstGeom>
          <a:solidFill>
            <a:srgbClr val="DCE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13432" y="215798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132190"/>
                </a:solidFill>
                <a:latin typeface="Arial"/>
              </a:rPr>
              <a:t>B</a:t>
            </a:r>
          </a:p>
        </p:txBody>
      </p:sp>
      <p:sp>
        <p:nvSpPr>
          <p:cNvPr id="8" name="Componente"/>
          <p:cNvSpPr/>
          <p:nvPr/>
        </p:nvSpPr>
        <p:spPr>
          <a:xfrm>
            <a:off x="2724912" y="2761488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DCE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24912" y="32918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132190"/>
                </a:solidFill>
                <a:latin typeface="Arial"/>
              </a:rPr>
              <a:t>C</a:t>
            </a:r>
          </a:p>
        </p:txBody>
      </p:sp>
      <p:sp>
        <p:nvSpPr>
          <p:cNvPr id="10" name="Componente"/>
          <p:cNvSpPr/>
          <p:nvPr/>
        </p:nvSpPr>
        <p:spPr>
          <a:xfrm>
            <a:off x="4005072" y="1920240"/>
            <a:ext cx="493776" cy="1261872"/>
          </a:xfrm>
          <a:prstGeom prst="roundRect">
            <a:avLst>
              <a:gd name="adj" fmla="val 50000"/>
            </a:avLst>
          </a:prstGeom>
          <a:solidFill>
            <a:srgbClr val="FD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32186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D9480F"/>
                </a:solidFill>
                <a:latin typeface="Arial"/>
              </a:rPr>
              <a:t>D</a:t>
            </a:r>
          </a:p>
        </p:txBody>
      </p:sp>
      <p:cxnSp>
        <p:nvCxnSpPr>
          <p:cNvPr id="12" name="Seta"/>
          <p:cNvCxnSpPr/>
          <p:nvPr/>
        </p:nvCxnSpPr>
        <p:spPr>
          <a:xfrm flipV="1">
            <a:off x="1319616" y="2019070"/>
            <a:ext cx="227348" cy="198412"/>
          </a:xfrm>
          <a:prstGeom prst="line">
            <a:avLst/>
          </a:prstGeom>
          <a:ln w="19050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eta"/>
          <p:cNvCxnSpPr/>
          <p:nvPr/>
        </p:nvCxnSpPr>
        <p:spPr>
          <a:xfrm>
            <a:off x="1691640" y="2066543"/>
            <a:ext cx="0" cy="512065"/>
          </a:xfrm>
          <a:prstGeom prst="line">
            <a:avLst/>
          </a:prstGeom>
          <a:ln w="19050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eta"/>
          <p:cNvCxnSpPr/>
          <p:nvPr/>
        </p:nvCxnSpPr>
        <p:spPr>
          <a:xfrm flipH="1" flipV="1">
            <a:off x="1333395" y="2457982"/>
            <a:ext cx="227348" cy="198412"/>
          </a:xfrm>
          <a:prstGeom prst="line">
            <a:avLst/>
          </a:prstGeom>
          <a:ln w="19050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eta"/>
          <p:cNvCxnSpPr/>
          <p:nvPr/>
        </p:nvCxnSpPr>
        <p:spPr>
          <a:xfrm>
            <a:off x="2734056" y="1929384"/>
            <a:ext cx="365760" cy="0"/>
          </a:xfrm>
          <a:prstGeom prst="line">
            <a:avLst/>
          </a:prstGeom>
          <a:ln w="19050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eta"/>
          <p:cNvCxnSpPr/>
          <p:nvPr/>
        </p:nvCxnSpPr>
        <p:spPr>
          <a:xfrm flipH="1">
            <a:off x="2752344" y="1819655"/>
            <a:ext cx="365760" cy="0"/>
          </a:xfrm>
          <a:prstGeom prst="line">
            <a:avLst/>
          </a:prstGeom>
          <a:ln w="19050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eta"/>
          <p:cNvCxnSpPr/>
          <p:nvPr/>
        </p:nvCxnSpPr>
        <p:spPr>
          <a:xfrm>
            <a:off x="4197096" y="2340864"/>
            <a:ext cx="0" cy="402336"/>
          </a:xfrm>
          <a:prstGeom prst="line">
            <a:avLst/>
          </a:prstGeom>
          <a:ln w="19050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eta"/>
          <p:cNvCxnSpPr/>
          <p:nvPr/>
        </p:nvCxnSpPr>
        <p:spPr>
          <a:xfrm flipV="1">
            <a:off x="4306824" y="2359152"/>
            <a:ext cx="0" cy="402336"/>
          </a:xfrm>
          <a:prstGeom prst="line">
            <a:avLst/>
          </a:prstGeom>
          <a:ln w="19050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eta"/>
          <p:cNvCxnSpPr/>
          <p:nvPr/>
        </p:nvCxnSpPr>
        <p:spPr>
          <a:xfrm flipV="1">
            <a:off x="1865337" y="1878561"/>
            <a:ext cx="503001" cy="10590"/>
          </a:xfrm>
          <a:prstGeom prst="line">
            <a:avLst/>
          </a:prstGeom>
          <a:ln w="19050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eta"/>
          <p:cNvCxnSpPr/>
          <p:nvPr/>
        </p:nvCxnSpPr>
        <p:spPr>
          <a:xfrm>
            <a:off x="1862455" y="2802354"/>
            <a:ext cx="920549" cy="170959"/>
          </a:xfrm>
          <a:prstGeom prst="line">
            <a:avLst/>
          </a:prstGeom>
          <a:ln w="19050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eta"/>
          <p:cNvCxnSpPr/>
          <p:nvPr/>
        </p:nvCxnSpPr>
        <p:spPr>
          <a:xfrm>
            <a:off x="3458029" y="1925168"/>
            <a:ext cx="610247" cy="185980"/>
          </a:xfrm>
          <a:prstGeom prst="line">
            <a:avLst/>
          </a:prstGeom>
          <a:ln w="19050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eta"/>
          <p:cNvCxnSpPr/>
          <p:nvPr/>
        </p:nvCxnSpPr>
        <p:spPr>
          <a:xfrm flipV="1">
            <a:off x="3145253" y="2946178"/>
            <a:ext cx="914995" cy="52286"/>
          </a:xfrm>
          <a:prstGeom prst="line">
            <a:avLst/>
          </a:prstGeom>
          <a:ln w="19050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Vertice 1"/>
          <p:cNvSpPr/>
          <p:nvPr/>
        </p:nvSpPr>
        <p:spPr>
          <a:xfrm>
            <a:off x="1014984" y="215798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321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132190"/>
                </a:solidFill>
                <a:latin typeface="Arial"/>
              </a:rPr>
              <a:t>1</a:t>
            </a:r>
          </a:p>
        </p:txBody>
      </p:sp>
      <p:sp>
        <p:nvSpPr>
          <p:cNvPr id="24" name="Vertice 2"/>
          <p:cNvSpPr/>
          <p:nvPr/>
        </p:nvSpPr>
        <p:spPr>
          <a:xfrm>
            <a:off x="1517904" y="1719072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321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132190"/>
                </a:solidFill>
                <a:latin typeface="Arial"/>
              </a:rPr>
              <a:t>2</a:t>
            </a:r>
          </a:p>
        </p:txBody>
      </p:sp>
      <p:sp>
        <p:nvSpPr>
          <p:cNvPr id="25" name="Vertice 3"/>
          <p:cNvSpPr/>
          <p:nvPr/>
        </p:nvSpPr>
        <p:spPr>
          <a:xfrm>
            <a:off x="1517904" y="2596896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321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132190"/>
                </a:solidFill>
                <a:latin typeface="Arial"/>
              </a:rPr>
              <a:t>3</a:t>
            </a:r>
          </a:p>
        </p:txBody>
      </p:sp>
      <p:sp>
        <p:nvSpPr>
          <p:cNvPr id="26" name="Vertice 4"/>
          <p:cNvSpPr/>
          <p:nvPr/>
        </p:nvSpPr>
        <p:spPr>
          <a:xfrm>
            <a:off x="2386584" y="170078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321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132190"/>
                </a:solidFill>
                <a:latin typeface="Arial"/>
              </a:rPr>
              <a:t>4</a:t>
            </a:r>
          </a:p>
        </p:txBody>
      </p:sp>
      <p:sp>
        <p:nvSpPr>
          <p:cNvPr id="27" name="Vertice 5"/>
          <p:cNvSpPr/>
          <p:nvPr/>
        </p:nvSpPr>
        <p:spPr>
          <a:xfrm>
            <a:off x="3118104" y="1700784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321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132190"/>
                </a:solidFill>
                <a:latin typeface="Arial"/>
              </a:rPr>
              <a:t>5</a:t>
            </a:r>
          </a:p>
        </p:txBody>
      </p:sp>
      <p:sp>
        <p:nvSpPr>
          <p:cNvPr id="28" name="Vertice 6"/>
          <p:cNvSpPr/>
          <p:nvPr/>
        </p:nvSpPr>
        <p:spPr>
          <a:xfrm>
            <a:off x="2798064" y="2834640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321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132190"/>
                </a:solidFill>
                <a:latin typeface="Arial"/>
              </a:rPr>
              <a:t>6</a:t>
            </a:r>
          </a:p>
        </p:txBody>
      </p:sp>
      <p:sp>
        <p:nvSpPr>
          <p:cNvPr id="29" name="Vertice 7"/>
          <p:cNvSpPr/>
          <p:nvPr/>
        </p:nvSpPr>
        <p:spPr>
          <a:xfrm>
            <a:off x="4078224" y="1993392"/>
            <a:ext cx="347472" cy="347472"/>
          </a:xfrm>
          <a:prstGeom prst="ellipse">
            <a:avLst/>
          </a:prstGeom>
          <a:solidFill>
            <a:srgbClr val="D9480F"/>
          </a:solidFill>
          <a:ln w="1905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0" name="Vertice 8"/>
          <p:cNvSpPr/>
          <p:nvPr/>
        </p:nvSpPr>
        <p:spPr>
          <a:xfrm>
            <a:off x="4078224" y="2761488"/>
            <a:ext cx="347472" cy="347472"/>
          </a:xfrm>
          <a:prstGeom prst="ellipse">
            <a:avLst/>
          </a:prstGeom>
          <a:solidFill>
            <a:srgbClr val="D9480F"/>
          </a:solidFill>
          <a:ln w="1905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31" name="Contrair"/>
          <p:cNvSpPr/>
          <p:nvPr/>
        </p:nvSpPr>
        <p:spPr>
          <a:xfrm>
            <a:off x="5010912" y="2560320"/>
            <a:ext cx="292608" cy="274320"/>
          </a:xfrm>
          <a:prstGeom prst="rightArrow">
            <a:avLst/>
          </a:prstGeom>
          <a:solidFill>
            <a:srgbClr val="004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ard"/>
          <p:cNvSpPr/>
          <p:nvPr/>
        </p:nvSpPr>
        <p:spPr>
          <a:xfrm>
            <a:off x="5349240" y="1417320"/>
            <a:ext cx="310896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9D5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3" name="Seta"/>
          <p:cNvCxnSpPr/>
          <p:nvPr/>
        </p:nvCxnSpPr>
        <p:spPr>
          <a:xfrm flipV="1">
            <a:off x="6027775" y="2169733"/>
            <a:ext cx="457680" cy="381400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eta"/>
          <p:cNvCxnSpPr/>
          <p:nvPr/>
        </p:nvCxnSpPr>
        <p:spPr>
          <a:xfrm>
            <a:off x="6027775" y="2843826"/>
            <a:ext cx="457680" cy="381400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eta"/>
          <p:cNvCxnSpPr/>
          <p:nvPr/>
        </p:nvCxnSpPr>
        <p:spPr>
          <a:xfrm>
            <a:off x="6850735" y="2158026"/>
            <a:ext cx="457680" cy="381400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eta"/>
          <p:cNvCxnSpPr/>
          <p:nvPr/>
        </p:nvCxnSpPr>
        <p:spPr>
          <a:xfrm flipV="1">
            <a:off x="6850735" y="2855533"/>
            <a:ext cx="457680" cy="381400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Vertice A"/>
          <p:cNvSpPr/>
          <p:nvPr/>
        </p:nvSpPr>
        <p:spPr>
          <a:xfrm>
            <a:off x="5623560" y="2468880"/>
            <a:ext cx="457200" cy="457200"/>
          </a:xfrm>
          <a:prstGeom prst="ellipse">
            <a:avLst/>
          </a:prstGeom>
          <a:solidFill>
            <a:srgbClr val="004AF7"/>
          </a:solidFill>
          <a:ln w="19050">
            <a:solidFill>
              <a:srgbClr val="004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38" name="Vertice B"/>
          <p:cNvSpPr/>
          <p:nvPr/>
        </p:nvSpPr>
        <p:spPr>
          <a:xfrm>
            <a:off x="6446520" y="17830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321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32190"/>
                </a:solidFill>
                <a:latin typeface="Arial"/>
              </a:rPr>
              <a:t>B</a:t>
            </a:r>
          </a:p>
        </p:txBody>
      </p:sp>
      <p:sp>
        <p:nvSpPr>
          <p:cNvPr id="39" name="Vertice C"/>
          <p:cNvSpPr/>
          <p:nvPr/>
        </p:nvSpPr>
        <p:spPr>
          <a:xfrm>
            <a:off x="6446520" y="3154680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321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32190"/>
                </a:solidFill>
                <a:latin typeface="Arial"/>
              </a:rPr>
              <a:t>C</a:t>
            </a:r>
          </a:p>
        </p:txBody>
      </p:sp>
      <p:sp>
        <p:nvSpPr>
          <p:cNvPr id="40" name="Vertice D"/>
          <p:cNvSpPr/>
          <p:nvPr/>
        </p:nvSpPr>
        <p:spPr>
          <a:xfrm>
            <a:off x="7269480" y="2468880"/>
            <a:ext cx="457200" cy="457200"/>
          </a:xfrm>
          <a:prstGeom prst="ellipse">
            <a:avLst/>
          </a:prstGeom>
          <a:solidFill>
            <a:srgbClr val="D9480F"/>
          </a:solidFill>
          <a:ln w="1905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32120" y="3017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004AF7"/>
                </a:solidFill>
                <a:latin typeface="Arial"/>
              </a:rPr>
              <a:t>fonte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78040" y="30175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D9480F"/>
                </a:solidFill>
                <a:latin typeface="Arial"/>
              </a:rPr>
              <a:t>sumidouro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32120" y="153619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5B6478"/>
                </a:solidFill>
                <a:latin typeface="Arial"/>
              </a:rPr>
              <a:t>grafo condensado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4114800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Entre componentes não há ciclo: </a:t>
            </a:r>
            <a:r>
              <a:rPr sz="1400" b="1" i="0">
                <a:solidFill>
                  <a:srgbClr val="132190"/>
                </a:solidFill>
                <a:latin typeface="Arial"/>
              </a:rPr>
              <a:t>se houvesse, elas seriam uma só.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274320"/>
            <a:ext cx="7818120" cy="1051560"/>
          </a:xfrm>
        </p:spPr>
        <p:txBody>
          <a:bodyPr/>
          <a:lstStyle/>
          <a:p>
            <a:pPr algn="l">
              <a:spcAft>
                <a:spcPts val="200"/>
              </a:spcAft>
            </a:pPr>
            <a:r>
              <a:rPr sz="2850" b="1" i="0">
                <a:solidFill>
                  <a:srgbClr val="132190"/>
                </a:solidFill>
                <a:latin typeface="Arial"/>
              </a:rPr>
              <a:t>Ordem topológica</a:t>
            </a:r>
          </a:p>
          <a:p>
            <a:pPr algn="l"/>
            <a:r>
              <a:rPr sz="1500" b="0" i="0">
                <a:solidFill>
                  <a:srgbClr val="004AF7"/>
                </a:solidFill>
                <a:latin typeface="Arial"/>
              </a:rPr>
              <a:t>O que é</a:t>
            </a:r>
          </a:p>
        </p:txBody>
      </p:sp>
      <p:sp>
        <p:nvSpPr>
          <p:cNvPr id="3" name="Texto"/>
          <p:cNvSpPr txBox="1"/>
          <p:nvPr/>
        </p:nvSpPr>
        <p:spPr>
          <a:xfrm>
            <a:off x="731520" y="1554480"/>
            <a:ext cx="36576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Enfileirar os vértices de modo que toda seta aponte para a frente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Só existe em DAG — num ciclo, ninguém pode ser o primeiro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0" i="0">
                <a:solidFill>
                  <a:srgbClr val="5B6478"/>
                </a:solidFill>
                <a:latin typeface="Arial"/>
              </a:rPr>
              <a:t>Não é única: Prog I antes de Discreta também vale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132190"/>
                </a:solidFill>
                <a:latin typeface="Arial"/>
              </a:rPr>
              <a:t>1º da ordem = fonte;  último = sumidouro</a:t>
            </a:r>
          </a:p>
        </p:txBody>
      </p:sp>
      <p:sp>
        <p:nvSpPr>
          <p:cNvPr id="4" name="Card"/>
          <p:cNvSpPr/>
          <p:nvPr/>
        </p:nvSpPr>
        <p:spPr>
          <a:xfrm>
            <a:off x="4572000" y="1417320"/>
            <a:ext cx="388620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9D5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754880" y="153619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5B6478"/>
                </a:solidFill>
                <a:latin typeface="Arial"/>
              </a:rPr>
              <a:t>pré-requisitos da grade</a:t>
            </a:r>
          </a:p>
        </p:txBody>
      </p:sp>
      <p:cxnSp>
        <p:nvCxnSpPr>
          <p:cNvPr id="6" name="Seta"/>
          <p:cNvCxnSpPr/>
          <p:nvPr/>
        </p:nvCxnSpPr>
        <p:spPr>
          <a:xfrm>
            <a:off x="5788152" y="2103120"/>
            <a:ext cx="1481328" cy="0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eta"/>
          <p:cNvCxnSpPr/>
          <p:nvPr/>
        </p:nvCxnSpPr>
        <p:spPr>
          <a:xfrm>
            <a:off x="5788152" y="2834640"/>
            <a:ext cx="246888" cy="0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eta"/>
          <p:cNvCxnSpPr/>
          <p:nvPr/>
        </p:nvCxnSpPr>
        <p:spPr>
          <a:xfrm flipV="1">
            <a:off x="6812280" y="2303409"/>
            <a:ext cx="669486" cy="339207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tulo Discreta"/>
          <p:cNvSpPr/>
          <p:nvPr/>
        </p:nvSpPr>
        <p:spPr>
          <a:xfrm>
            <a:off x="4800600" y="1911095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004AF7"/>
          </a:solidFill>
          <a:ln w="19050">
            <a:solidFill>
              <a:srgbClr val="004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Discreta</a:t>
            </a:r>
          </a:p>
        </p:txBody>
      </p:sp>
      <p:sp>
        <p:nvSpPr>
          <p:cNvPr id="10" name="Rotulo Prog I"/>
          <p:cNvSpPr/>
          <p:nvPr/>
        </p:nvSpPr>
        <p:spPr>
          <a:xfrm>
            <a:off x="4800600" y="2642616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004AF7"/>
          </a:solidFill>
          <a:ln w="19050">
            <a:solidFill>
              <a:srgbClr val="004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Prog I</a:t>
            </a:r>
          </a:p>
        </p:txBody>
      </p:sp>
      <p:sp>
        <p:nvSpPr>
          <p:cNvPr id="11" name="Rotulo Estr. Dados"/>
          <p:cNvSpPr/>
          <p:nvPr/>
        </p:nvSpPr>
        <p:spPr>
          <a:xfrm>
            <a:off x="6035040" y="2642616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321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1100" b="1" i="0">
                <a:solidFill>
                  <a:srgbClr val="132190"/>
                </a:solidFill>
                <a:latin typeface="Arial"/>
              </a:rPr>
              <a:t>Estr. Dados</a:t>
            </a:r>
          </a:p>
        </p:txBody>
      </p:sp>
      <p:sp>
        <p:nvSpPr>
          <p:cNvPr id="12" name="Rotulo Grafos"/>
          <p:cNvSpPr/>
          <p:nvPr/>
        </p:nvSpPr>
        <p:spPr>
          <a:xfrm>
            <a:off x="7269480" y="1911095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D9480F"/>
          </a:solidFill>
          <a:ln w="1905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Grafos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46120"/>
            <a:ext cx="35661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 i="0">
                <a:solidFill>
                  <a:srgbClr val="5B6478"/>
                </a:solidFill>
                <a:latin typeface="Arial"/>
              </a:rPr>
              <a:t>uma ordem válida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 i="0">
                <a:solidFill>
                  <a:srgbClr val="132190"/>
                </a:solidFill>
                <a:latin typeface="Arial"/>
              </a:rPr>
              <a:t>Discreta → Prog I → Estr. Dados → Grafos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274320"/>
            <a:ext cx="7818120" cy="1051560"/>
          </a:xfrm>
        </p:spPr>
        <p:txBody>
          <a:bodyPr/>
          <a:lstStyle/>
          <a:p>
            <a:pPr algn="l">
              <a:spcAft>
                <a:spcPts val="200"/>
              </a:spcAft>
            </a:pPr>
            <a:r>
              <a:rPr sz="2850" b="1" i="0">
                <a:solidFill>
                  <a:srgbClr val="132190"/>
                </a:solidFill>
                <a:latin typeface="Arial"/>
              </a:rPr>
              <a:t>Como obter a ordem</a:t>
            </a:r>
          </a:p>
          <a:p>
            <a:pPr algn="l"/>
            <a:r>
              <a:rPr sz="1500" b="0" i="0">
                <a:solidFill>
                  <a:srgbClr val="004AF7"/>
                </a:solidFill>
                <a:latin typeface="Arial"/>
              </a:rPr>
              <a:t>Uma DFS e uma pilha: a pós-ordem reversa</a:t>
            </a:r>
          </a:p>
        </p:txBody>
      </p:sp>
      <p:sp>
        <p:nvSpPr>
          <p:cNvPr id="3" name="Texto"/>
          <p:cNvSpPr txBox="1"/>
          <p:nvPr/>
        </p:nvSpPr>
        <p:spPr>
          <a:xfrm>
            <a:off x="731520" y="1554480"/>
            <a:ext cx="365760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DFS normal; quando um vértice termina, empilha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Ler a pilha do topo = pós-ordem reversa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Em v → w, w termina antes de v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132190"/>
                </a:solidFill>
                <a:latin typeface="Arial"/>
              </a:rPr>
              <a:t>Num DAG: pós-ordem reversa = ordem topológica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0" i="0">
                <a:solidFill>
                  <a:srgbClr val="004AF7"/>
                </a:solidFill>
                <a:latin typeface="Arial"/>
              </a:rPr>
              <a:t>Com ciclos: o 1º vértice cai numa componente fonte</a:t>
            </a:r>
          </a:p>
        </p:txBody>
      </p:sp>
      <p:sp>
        <p:nvSpPr>
          <p:cNvPr id="4" name="Card"/>
          <p:cNvSpPr/>
          <p:nvPr/>
        </p:nvSpPr>
        <p:spPr>
          <a:xfrm>
            <a:off x="4572000" y="1417320"/>
            <a:ext cx="388620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9D5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" name="Seta"/>
          <p:cNvCxnSpPr/>
          <p:nvPr/>
        </p:nvCxnSpPr>
        <p:spPr>
          <a:xfrm flipV="1">
            <a:off x="5203632" y="2107246"/>
            <a:ext cx="414421" cy="351039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eta"/>
          <p:cNvCxnSpPr/>
          <p:nvPr/>
        </p:nvCxnSpPr>
        <p:spPr>
          <a:xfrm>
            <a:off x="5203632" y="2753794"/>
            <a:ext cx="414421" cy="351039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eta"/>
          <p:cNvCxnSpPr/>
          <p:nvPr/>
        </p:nvCxnSpPr>
        <p:spPr>
          <a:xfrm>
            <a:off x="5980872" y="2095426"/>
            <a:ext cx="414421" cy="351039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eta"/>
          <p:cNvCxnSpPr/>
          <p:nvPr/>
        </p:nvCxnSpPr>
        <p:spPr>
          <a:xfrm flipV="1">
            <a:off x="5980872" y="2765614"/>
            <a:ext cx="414421" cy="351039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Vertice A"/>
          <p:cNvSpPr/>
          <p:nvPr/>
        </p:nvSpPr>
        <p:spPr>
          <a:xfrm>
            <a:off x="4800600" y="2377440"/>
            <a:ext cx="457200" cy="457200"/>
          </a:xfrm>
          <a:prstGeom prst="ellipse">
            <a:avLst/>
          </a:prstGeom>
          <a:solidFill>
            <a:srgbClr val="004AF7"/>
          </a:solidFill>
          <a:ln w="19050">
            <a:solidFill>
              <a:srgbClr val="004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0" name="Vertice B"/>
          <p:cNvSpPr/>
          <p:nvPr/>
        </p:nvSpPr>
        <p:spPr>
          <a:xfrm>
            <a:off x="5577840" y="1719072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321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32190"/>
                </a:solidFill>
                <a:latin typeface="Arial"/>
              </a:rPr>
              <a:t>B</a:t>
            </a:r>
          </a:p>
        </p:txBody>
      </p:sp>
      <p:sp>
        <p:nvSpPr>
          <p:cNvPr id="11" name="Vertice C"/>
          <p:cNvSpPr/>
          <p:nvPr/>
        </p:nvSpPr>
        <p:spPr>
          <a:xfrm>
            <a:off x="5577840" y="3035808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321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32190"/>
                </a:solidFill>
                <a:latin typeface="Arial"/>
              </a:rPr>
              <a:t>C</a:t>
            </a:r>
          </a:p>
        </p:txBody>
      </p:sp>
      <p:sp>
        <p:nvSpPr>
          <p:cNvPr id="12" name="Vertice D"/>
          <p:cNvSpPr/>
          <p:nvPr/>
        </p:nvSpPr>
        <p:spPr>
          <a:xfrm>
            <a:off x="6355080" y="2377440"/>
            <a:ext cx="457200" cy="457200"/>
          </a:xfrm>
          <a:prstGeom prst="ellipse">
            <a:avLst/>
          </a:prstGeom>
          <a:solidFill>
            <a:srgbClr val="D9480F"/>
          </a:solidFill>
          <a:ln w="1905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3" name="Termino"/>
          <p:cNvSpPr/>
          <p:nvPr/>
        </p:nvSpPr>
        <p:spPr>
          <a:xfrm>
            <a:off x="6702552" y="2286000"/>
            <a:ext cx="201168" cy="201168"/>
          </a:xfrm>
          <a:prstGeom prst="ellipse">
            <a:avLst/>
          </a:prstGeom>
          <a:solidFill>
            <a:srgbClr val="1321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rmino"/>
          <p:cNvSpPr/>
          <p:nvPr/>
        </p:nvSpPr>
        <p:spPr>
          <a:xfrm>
            <a:off x="5925312" y="1627631"/>
            <a:ext cx="201168" cy="201168"/>
          </a:xfrm>
          <a:prstGeom prst="ellipse">
            <a:avLst/>
          </a:prstGeom>
          <a:solidFill>
            <a:srgbClr val="1321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rmino"/>
          <p:cNvSpPr/>
          <p:nvPr/>
        </p:nvSpPr>
        <p:spPr>
          <a:xfrm>
            <a:off x="5925312" y="2944368"/>
            <a:ext cx="201168" cy="201168"/>
          </a:xfrm>
          <a:prstGeom prst="ellipse">
            <a:avLst/>
          </a:prstGeom>
          <a:solidFill>
            <a:srgbClr val="1321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rmino"/>
          <p:cNvSpPr/>
          <p:nvPr/>
        </p:nvSpPr>
        <p:spPr>
          <a:xfrm>
            <a:off x="5148072" y="2286000"/>
            <a:ext cx="201168" cy="201168"/>
          </a:xfrm>
          <a:prstGeom prst="ellipse">
            <a:avLst/>
          </a:prstGeom>
          <a:solidFill>
            <a:srgbClr val="1321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675887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5B6478"/>
                </a:solidFill>
                <a:latin typeface="Arial"/>
              </a:rPr>
              <a:t>nº = ordem de término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15361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5B6478"/>
                </a:solidFill>
                <a:latin typeface="Arial"/>
              </a:rPr>
              <a:t>pilha</a:t>
            </a:r>
          </a:p>
        </p:txBody>
      </p:sp>
      <p:sp>
        <p:nvSpPr>
          <p:cNvPr id="19" name="Rotulo A"/>
          <p:cNvSpPr/>
          <p:nvPr/>
        </p:nvSpPr>
        <p:spPr>
          <a:xfrm>
            <a:off x="7452360" y="1810512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004AF7"/>
          </a:solidFill>
          <a:ln w="19050">
            <a:solidFill>
              <a:srgbClr val="004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20" name="Rotulo C"/>
          <p:cNvSpPr/>
          <p:nvPr/>
        </p:nvSpPr>
        <p:spPr>
          <a:xfrm>
            <a:off x="7452360" y="2240279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321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1200" b="1" i="0">
                <a:solidFill>
                  <a:srgbClr val="132190"/>
                </a:solidFill>
                <a:latin typeface="Arial"/>
              </a:rPr>
              <a:t>C</a:t>
            </a:r>
          </a:p>
        </p:txBody>
      </p:sp>
      <p:sp>
        <p:nvSpPr>
          <p:cNvPr id="21" name="Rotulo B"/>
          <p:cNvSpPr/>
          <p:nvPr/>
        </p:nvSpPr>
        <p:spPr>
          <a:xfrm>
            <a:off x="7452360" y="2670048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321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1200" b="1" i="0">
                <a:solidFill>
                  <a:srgbClr val="132190"/>
                </a:solidFill>
                <a:latin typeface="Arial"/>
              </a:rPr>
              <a:t>B</a:t>
            </a:r>
          </a:p>
        </p:txBody>
      </p:sp>
      <p:sp>
        <p:nvSpPr>
          <p:cNvPr id="22" name="Rotulo D"/>
          <p:cNvSpPr/>
          <p:nvPr/>
        </p:nvSpPr>
        <p:spPr>
          <a:xfrm>
            <a:off x="7452360" y="3099816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D9480F"/>
          </a:solidFill>
          <a:ln w="1905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19019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132190"/>
                </a:solidFill>
                <a:latin typeface="Arial"/>
              </a:rPr>
              <a:t>topo 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274320"/>
            <a:ext cx="7818120" cy="1051560"/>
          </a:xfrm>
        </p:spPr>
        <p:txBody>
          <a:bodyPr/>
          <a:lstStyle/>
          <a:p>
            <a:pPr algn="l">
              <a:spcAft>
                <a:spcPts val="200"/>
              </a:spcAft>
            </a:pPr>
            <a:r>
              <a:rPr sz="2850" b="1" i="0">
                <a:solidFill>
                  <a:srgbClr val="132190"/>
                </a:solidFill>
                <a:latin typeface="Arial"/>
              </a:rPr>
              <a:t>Por que isso basta</a:t>
            </a:r>
          </a:p>
          <a:p>
            <a:pPr algn="l"/>
            <a:r>
              <a:rPr sz="1500" b="0" i="0">
                <a:solidFill>
                  <a:srgbClr val="004AF7"/>
                </a:solidFill>
                <a:latin typeface="Arial"/>
              </a:rPr>
              <a:t>Começar a DFS pelo sumidouro</a:t>
            </a:r>
          </a:p>
        </p:txBody>
      </p:sp>
      <p:sp>
        <p:nvSpPr>
          <p:cNvPr id="3" name="Card"/>
          <p:cNvSpPr/>
          <p:nvPr/>
        </p:nvSpPr>
        <p:spPr>
          <a:xfrm>
            <a:off x="731520" y="1417320"/>
            <a:ext cx="3749039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9D5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132190"/>
                </a:solidFill>
                <a:latin typeface="Arial"/>
              </a:rPr>
              <a:t>DFS em G começando em A (fonte)</a:t>
            </a:r>
          </a:p>
        </p:txBody>
      </p:sp>
      <p:cxnSp>
        <p:nvCxnSpPr>
          <p:cNvPr id="5" name="Seta"/>
          <p:cNvCxnSpPr/>
          <p:nvPr/>
        </p:nvCxnSpPr>
        <p:spPr>
          <a:xfrm flipV="1">
            <a:off x="1401821" y="2179132"/>
            <a:ext cx="335820" cy="223880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eta"/>
          <p:cNvCxnSpPr/>
          <p:nvPr/>
        </p:nvCxnSpPr>
        <p:spPr>
          <a:xfrm>
            <a:off x="1401821" y="2626187"/>
            <a:ext cx="335820" cy="223880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eta"/>
          <p:cNvCxnSpPr/>
          <p:nvPr/>
        </p:nvCxnSpPr>
        <p:spPr>
          <a:xfrm>
            <a:off x="2087621" y="2168987"/>
            <a:ext cx="335820" cy="223880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eta"/>
          <p:cNvCxnSpPr/>
          <p:nvPr/>
        </p:nvCxnSpPr>
        <p:spPr>
          <a:xfrm flipV="1">
            <a:off x="2087621" y="2636332"/>
            <a:ext cx="335820" cy="223880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Vertice A"/>
          <p:cNvSpPr/>
          <p:nvPr/>
        </p:nvSpPr>
        <p:spPr>
          <a:xfrm>
            <a:off x="1033272" y="2313432"/>
            <a:ext cx="402336" cy="402336"/>
          </a:xfrm>
          <a:prstGeom prst="ellipse">
            <a:avLst/>
          </a:prstGeom>
          <a:solidFill>
            <a:srgbClr val="004AF7"/>
          </a:solidFill>
          <a:ln w="19050">
            <a:solidFill>
              <a:srgbClr val="004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0" name="Vertice B"/>
          <p:cNvSpPr/>
          <p:nvPr/>
        </p:nvSpPr>
        <p:spPr>
          <a:xfrm>
            <a:off x="1719072" y="1856231"/>
            <a:ext cx="402336" cy="402336"/>
          </a:xfrm>
          <a:prstGeom prst="ellipse">
            <a:avLst/>
          </a:prstGeom>
          <a:solidFill>
            <a:srgbClr val="004AF7"/>
          </a:solidFill>
          <a:ln w="19050">
            <a:solidFill>
              <a:srgbClr val="004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11" name="Vertice C"/>
          <p:cNvSpPr/>
          <p:nvPr/>
        </p:nvSpPr>
        <p:spPr>
          <a:xfrm>
            <a:off x="1719072" y="2770632"/>
            <a:ext cx="402336" cy="402336"/>
          </a:xfrm>
          <a:prstGeom prst="ellipse">
            <a:avLst/>
          </a:prstGeom>
          <a:solidFill>
            <a:srgbClr val="004AF7"/>
          </a:solidFill>
          <a:ln w="19050">
            <a:solidFill>
              <a:srgbClr val="004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C</a:t>
            </a:r>
          </a:p>
        </p:txBody>
      </p:sp>
      <p:sp>
        <p:nvSpPr>
          <p:cNvPr id="12" name="Vertice D"/>
          <p:cNvSpPr/>
          <p:nvPr/>
        </p:nvSpPr>
        <p:spPr>
          <a:xfrm>
            <a:off x="2404872" y="2313432"/>
            <a:ext cx="402336" cy="402336"/>
          </a:xfrm>
          <a:prstGeom prst="ellipse">
            <a:avLst/>
          </a:prstGeom>
          <a:solidFill>
            <a:srgbClr val="004AF7"/>
          </a:solidFill>
          <a:ln w="19050">
            <a:solidFill>
              <a:srgbClr val="004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210312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as setas levam a tudo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 i="0">
                <a:solidFill>
                  <a:srgbClr val="C92A2A"/>
                </a:solidFill>
                <a:latin typeface="Arial"/>
              </a:rPr>
              <a:t>mistura A, B, C, D  ✗</a:t>
            </a:r>
          </a:p>
        </p:txBody>
      </p:sp>
      <p:sp>
        <p:nvSpPr>
          <p:cNvPr id="14" name="Card"/>
          <p:cNvSpPr/>
          <p:nvPr/>
        </p:nvSpPr>
        <p:spPr>
          <a:xfrm>
            <a:off x="4709160" y="1417320"/>
            <a:ext cx="3749039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9D5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892040" y="15087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132190"/>
                </a:solidFill>
                <a:latin typeface="Arial"/>
              </a:rPr>
              <a:t>DFS em G começando em D (sumidouro)</a:t>
            </a:r>
          </a:p>
        </p:txBody>
      </p:sp>
      <p:cxnSp>
        <p:nvCxnSpPr>
          <p:cNvPr id="16" name="Seta"/>
          <p:cNvCxnSpPr/>
          <p:nvPr/>
        </p:nvCxnSpPr>
        <p:spPr>
          <a:xfrm flipV="1">
            <a:off x="5379461" y="2179132"/>
            <a:ext cx="335820" cy="223880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eta"/>
          <p:cNvCxnSpPr/>
          <p:nvPr/>
        </p:nvCxnSpPr>
        <p:spPr>
          <a:xfrm>
            <a:off x="5379461" y="2626187"/>
            <a:ext cx="335820" cy="223880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eta"/>
          <p:cNvCxnSpPr/>
          <p:nvPr/>
        </p:nvCxnSpPr>
        <p:spPr>
          <a:xfrm>
            <a:off x="6065261" y="2168987"/>
            <a:ext cx="335820" cy="223880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eta"/>
          <p:cNvCxnSpPr/>
          <p:nvPr/>
        </p:nvCxnSpPr>
        <p:spPr>
          <a:xfrm flipV="1">
            <a:off x="6065261" y="2636332"/>
            <a:ext cx="335820" cy="223880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Vertice A"/>
          <p:cNvSpPr/>
          <p:nvPr/>
        </p:nvSpPr>
        <p:spPr>
          <a:xfrm>
            <a:off x="5010912" y="231343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321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132190"/>
                </a:solidFill>
                <a:latin typeface="Arial"/>
              </a:rPr>
              <a:t>A</a:t>
            </a:r>
          </a:p>
        </p:txBody>
      </p:sp>
      <p:sp>
        <p:nvSpPr>
          <p:cNvPr id="21" name="Vertice B"/>
          <p:cNvSpPr/>
          <p:nvPr/>
        </p:nvSpPr>
        <p:spPr>
          <a:xfrm>
            <a:off x="5696712" y="1856231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321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132190"/>
                </a:solidFill>
                <a:latin typeface="Arial"/>
              </a:rPr>
              <a:t>B</a:t>
            </a:r>
          </a:p>
        </p:txBody>
      </p:sp>
      <p:sp>
        <p:nvSpPr>
          <p:cNvPr id="22" name="Vertice C"/>
          <p:cNvSpPr/>
          <p:nvPr/>
        </p:nvSpPr>
        <p:spPr>
          <a:xfrm>
            <a:off x="5696712" y="2770632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321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132190"/>
                </a:solidFill>
                <a:latin typeface="Arial"/>
              </a:rPr>
              <a:t>C</a:t>
            </a:r>
          </a:p>
        </p:txBody>
      </p:sp>
      <p:sp>
        <p:nvSpPr>
          <p:cNvPr id="23" name="Vertice D"/>
          <p:cNvSpPr/>
          <p:nvPr/>
        </p:nvSpPr>
        <p:spPr>
          <a:xfrm>
            <a:off x="6382512" y="2313432"/>
            <a:ext cx="402336" cy="402336"/>
          </a:xfrm>
          <a:prstGeom prst="ellipse">
            <a:avLst/>
          </a:prstGeom>
          <a:solidFill>
            <a:srgbClr val="D9480F"/>
          </a:solidFill>
          <a:ln w="1905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2103120"/>
            <a:ext cx="1554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não há saída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 i="0">
                <a:solidFill>
                  <a:srgbClr val="2B8A3E"/>
                </a:solidFill>
                <a:latin typeface="Arial"/>
              </a:rPr>
              <a:t>marca só D  ✓</a:t>
            </a:r>
          </a:p>
        </p:txBody>
      </p:sp>
      <p:sp>
        <p:nvSpPr>
          <p:cNvPr id="25" name="Rotulo ordem topológica de Gᵀ"/>
          <p:cNvSpPr/>
          <p:nvPr/>
        </p:nvSpPr>
        <p:spPr>
          <a:xfrm>
            <a:off x="731520" y="361188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DCE8FD"/>
          </a:solidFill>
          <a:ln w="19050">
            <a:solidFill>
              <a:srgbClr val="004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1000" b="1" i="0">
                <a:solidFill>
                  <a:srgbClr val="132190"/>
                </a:solidFill>
                <a:latin typeface="Arial"/>
              </a:rPr>
              <a:t>ordem topológica de Gᵀ</a:t>
            </a:r>
          </a:p>
        </p:txBody>
      </p:sp>
      <p:cxnSp>
        <p:nvCxnSpPr>
          <p:cNvPr id="26" name="Seta"/>
          <p:cNvCxnSpPr/>
          <p:nvPr/>
        </p:nvCxnSpPr>
        <p:spPr>
          <a:xfrm>
            <a:off x="2395728" y="3840480"/>
            <a:ext cx="256032" cy="0"/>
          </a:xfrm>
          <a:prstGeom prst="line">
            <a:avLst/>
          </a:prstGeom>
          <a:ln w="22225">
            <a:solidFill>
              <a:srgbClr val="004A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tulo 1º = fonte de Gᵀ"/>
          <p:cNvSpPr/>
          <p:nvPr/>
        </p:nvSpPr>
        <p:spPr>
          <a:xfrm>
            <a:off x="2670048" y="361188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DCE8FD"/>
          </a:solidFill>
          <a:ln w="19050">
            <a:solidFill>
              <a:srgbClr val="004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1000" b="1" i="0">
                <a:solidFill>
                  <a:srgbClr val="132190"/>
                </a:solidFill>
                <a:latin typeface="Arial"/>
              </a:rPr>
              <a:t>1º = fonte de Gᵀ</a:t>
            </a:r>
          </a:p>
        </p:txBody>
      </p:sp>
      <p:cxnSp>
        <p:nvCxnSpPr>
          <p:cNvPr id="28" name="Seta"/>
          <p:cNvCxnSpPr/>
          <p:nvPr/>
        </p:nvCxnSpPr>
        <p:spPr>
          <a:xfrm>
            <a:off x="4334256" y="3840480"/>
            <a:ext cx="256032" cy="0"/>
          </a:xfrm>
          <a:prstGeom prst="line">
            <a:avLst/>
          </a:prstGeom>
          <a:ln w="22225">
            <a:solidFill>
              <a:srgbClr val="004A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tulo = sumidouro de G"/>
          <p:cNvSpPr/>
          <p:nvPr/>
        </p:nvSpPr>
        <p:spPr>
          <a:xfrm>
            <a:off x="4608576" y="361188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DCE8FD"/>
          </a:solidFill>
          <a:ln w="19050">
            <a:solidFill>
              <a:srgbClr val="004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1000" b="1" i="0">
                <a:solidFill>
                  <a:srgbClr val="132190"/>
                </a:solidFill>
                <a:latin typeface="Arial"/>
              </a:rPr>
              <a:t>= sumidouro de G</a:t>
            </a:r>
          </a:p>
        </p:txBody>
      </p:sp>
      <p:cxnSp>
        <p:nvCxnSpPr>
          <p:cNvPr id="30" name="Seta"/>
          <p:cNvCxnSpPr/>
          <p:nvPr/>
        </p:nvCxnSpPr>
        <p:spPr>
          <a:xfrm>
            <a:off x="6272784" y="3840480"/>
            <a:ext cx="256032" cy="0"/>
          </a:xfrm>
          <a:prstGeom prst="line">
            <a:avLst/>
          </a:prstGeom>
          <a:ln w="22225">
            <a:solidFill>
              <a:srgbClr val="004AF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tulo DFS em G não vaza"/>
          <p:cNvSpPr/>
          <p:nvPr/>
        </p:nvSpPr>
        <p:spPr>
          <a:xfrm>
            <a:off x="6547104" y="361188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D9480F"/>
          </a:solidFill>
          <a:ln w="1905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36576" rIns="36576" tIns="0" bIns="0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DFS em G não vaza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206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5B6478"/>
                </a:solidFill>
                <a:latin typeface="Arial"/>
              </a:rPr>
              <a:t>Inverter as setas não muda as componentes: um ciclo invertido continua sendo ciclo.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274320"/>
            <a:ext cx="7818120" cy="1051560"/>
          </a:xfrm>
        </p:spPr>
        <p:txBody>
          <a:bodyPr/>
          <a:lstStyle/>
          <a:p>
            <a:pPr algn="l">
              <a:spcAft>
                <a:spcPts val="200"/>
              </a:spcAft>
            </a:pPr>
            <a:r>
              <a:rPr sz="2850" b="1" i="0">
                <a:solidFill>
                  <a:srgbClr val="132190"/>
                </a:solidFill>
                <a:latin typeface="Arial"/>
              </a:rPr>
              <a:t>Kosaraju-Sharir</a:t>
            </a:r>
          </a:p>
          <a:p>
            <a:pPr algn="l"/>
            <a:r>
              <a:rPr sz="1500" b="0" i="0">
                <a:solidFill>
                  <a:srgbClr val="004AF7"/>
                </a:solidFill>
                <a:latin typeface="Arial"/>
              </a:rPr>
              <a:t>Duas DFS, aplicadas ao exemplo</a:t>
            </a:r>
          </a:p>
        </p:txBody>
      </p:sp>
      <p:sp>
        <p:nvSpPr>
          <p:cNvPr id="3" name="Card"/>
          <p:cNvSpPr/>
          <p:nvPr/>
        </p:nvSpPr>
        <p:spPr>
          <a:xfrm>
            <a:off x="731520" y="1417320"/>
            <a:ext cx="233172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9D5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96112" y="150876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132190"/>
                </a:solidFill>
                <a:latin typeface="Arial"/>
              </a:rPr>
              <a:t>Fase 1 · DFS em Gᵀ</a:t>
            </a:r>
          </a:p>
        </p:txBody>
      </p:sp>
      <p:cxnSp>
        <p:nvCxnSpPr>
          <p:cNvPr id="5" name="Seta"/>
          <p:cNvCxnSpPr/>
          <p:nvPr/>
        </p:nvCxnSpPr>
        <p:spPr>
          <a:xfrm flipH="1">
            <a:off x="1417320" y="2011680"/>
            <a:ext cx="612647" cy="0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eta"/>
          <p:cNvCxnSpPr/>
          <p:nvPr/>
        </p:nvCxnSpPr>
        <p:spPr>
          <a:xfrm flipV="1">
            <a:off x="2194560" y="2194560"/>
            <a:ext cx="0" cy="292608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eta"/>
          <p:cNvCxnSpPr/>
          <p:nvPr/>
        </p:nvCxnSpPr>
        <p:spPr>
          <a:xfrm>
            <a:off x="1371388" y="2102979"/>
            <a:ext cx="671006" cy="447337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eta"/>
          <p:cNvCxnSpPr/>
          <p:nvPr/>
        </p:nvCxnSpPr>
        <p:spPr>
          <a:xfrm flipV="1">
            <a:off x="1234440" y="2194560"/>
            <a:ext cx="0" cy="772667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eta"/>
          <p:cNvCxnSpPr/>
          <p:nvPr/>
        </p:nvCxnSpPr>
        <p:spPr>
          <a:xfrm flipV="1">
            <a:off x="1381655" y="2733546"/>
            <a:ext cx="649332" cy="324666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ertice 1"/>
          <p:cNvSpPr/>
          <p:nvPr/>
        </p:nvSpPr>
        <p:spPr>
          <a:xfrm>
            <a:off x="1069848" y="1847088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321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132190"/>
                </a:solidFill>
                <a:latin typeface="Arial"/>
              </a:rPr>
              <a:t>1</a:t>
            </a:r>
          </a:p>
        </p:txBody>
      </p:sp>
      <p:sp>
        <p:nvSpPr>
          <p:cNvPr id="11" name="Vertice 2"/>
          <p:cNvSpPr/>
          <p:nvPr/>
        </p:nvSpPr>
        <p:spPr>
          <a:xfrm>
            <a:off x="2029967" y="1847088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321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132190"/>
                </a:solidFill>
                <a:latin typeface="Arial"/>
              </a:rPr>
              <a:t>2</a:t>
            </a:r>
          </a:p>
        </p:txBody>
      </p:sp>
      <p:sp>
        <p:nvSpPr>
          <p:cNvPr id="12" name="Vertice 3"/>
          <p:cNvSpPr/>
          <p:nvPr/>
        </p:nvSpPr>
        <p:spPr>
          <a:xfrm>
            <a:off x="2029967" y="2487168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321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132190"/>
                </a:solidFill>
                <a:latin typeface="Arial"/>
              </a:rPr>
              <a:t>3</a:t>
            </a:r>
          </a:p>
        </p:txBody>
      </p:sp>
      <p:sp>
        <p:nvSpPr>
          <p:cNvPr id="13" name="Vertice 4"/>
          <p:cNvSpPr/>
          <p:nvPr/>
        </p:nvSpPr>
        <p:spPr>
          <a:xfrm>
            <a:off x="1069848" y="2967227"/>
            <a:ext cx="329184" cy="329184"/>
          </a:xfrm>
          <a:prstGeom prst="ellipse">
            <a:avLst/>
          </a:prstGeom>
          <a:solidFill>
            <a:srgbClr val="004AF7"/>
          </a:solidFill>
          <a:ln w="19050">
            <a:solidFill>
              <a:srgbClr val="004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4290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5B6478"/>
                </a:solidFill>
                <a:latin typeface="Arial"/>
              </a:rPr>
              <a:t>reversePost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6118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132190"/>
                </a:solidFill>
                <a:latin typeface="Arial"/>
              </a:rPr>
              <a:t>4, 1, 3, 2</a:t>
            </a:r>
          </a:p>
        </p:txBody>
      </p:sp>
      <p:sp>
        <p:nvSpPr>
          <p:cNvPr id="16" name="Card"/>
          <p:cNvSpPr/>
          <p:nvPr/>
        </p:nvSpPr>
        <p:spPr>
          <a:xfrm>
            <a:off x="3246120" y="1417320"/>
            <a:ext cx="233172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9D5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410712" y="150876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132190"/>
                </a:solidFill>
                <a:latin typeface="Arial"/>
              </a:rPr>
              <a:t>Fase 2 · DFS em G</a:t>
            </a:r>
          </a:p>
        </p:txBody>
      </p:sp>
      <p:cxnSp>
        <p:nvCxnSpPr>
          <p:cNvPr id="18" name="Seta"/>
          <p:cNvCxnSpPr/>
          <p:nvPr/>
        </p:nvCxnSpPr>
        <p:spPr>
          <a:xfrm>
            <a:off x="3913631" y="2011680"/>
            <a:ext cx="612648" cy="0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eta"/>
          <p:cNvCxnSpPr/>
          <p:nvPr/>
        </p:nvCxnSpPr>
        <p:spPr>
          <a:xfrm>
            <a:off x="4709159" y="2176272"/>
            <a:ext cx="0" cy="292608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eta"/>
          <p:cNvCxnSpPr/>
          <p:nvPr/>
        </p:nvCxnSpPr>
        <p:spPr>
          <a:xfrm flipH="1" flipV="1">
            <a:off x="3901205" y="2113123"/>
            <a:ext cx="671006" cy="447337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eta"/>
          <p:cNvCxnSpPr/>
          <p:nvPr/>
        </p:nvCxnSpPr>
        <p:spPr>
          <a:xfrm>
            <a:off x="3749039" y="2176272"/>
            <a:ext cx="0" cy="772667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eta"/>
          <p:cNvCxnSpPr/>
          <p:nvPr/>
        </p:nvCxnSpPr>
        <p:spPr>
          <a:xfrm flipH="1">
            <a:off x="3912612" y="2725367"/>
            <a:ext cx="649332" cy="324666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Vertice 1"/>
          <p:cNvSpPr/>
          <p:nvPr/>
        </p:nvSpPr>
        <p:spPr>
          <a:xfrm>
            <a:off x="3584447" y="1847088"/>
            <a:ext cx="329184" cy="329184"/>
          </a:xfrm>
          <a:prstGeom prst="ellipse">
            <a:avLst/>
          </a:prstGeom>
          <a:solidFill>
            <a:srgbClr val="DCE8FD"/>
          </a:solidFill>
          <a:ln w="19050">
            <a:solidFill>
              <a:srgbClr val="004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132190"/>
                </a:solidFill>
                <a:latin typeface="Arial"/>
              </a:rPr>
              <a:t>1</a:t>
            </a:r>
          </a:p>
        </p:txBody>
      </p:sp>
      <p:sp>
        <p:nvSpPr>
          <p:cNvPr id="24" name="Vertice 2"/>
          <p:cNvSpPr/>
          <p:nvPr/>
        </p:nvSpPr>
        <p:spPr>
          <a:xfrm>
            <a:off x="4544568" y="1847088"/>
            <a:ext cx="329184" cy="329184"/>
          </a:xfrm>
          <a:prstGeom prst="ellipse">
            <a:avLst/>
          </a:prstGeom>
          <a:solidFill>
            <a:srgbClr val="DCE8FD"/>
          </a:solidFill>
          <a:ln w="19050">
            <a:solidFill>
              <a:srgbClr val="004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132190"/>
                </a:solidFill>
                <a:latin typeface="Arial"/>
              </a:rPr>
              <a:t>2</a:t>
            </a:r>
          </a:p>
        </p:txBody>
      </p:sp>
      <p:sp>
        <p:nvSpPr>
          <p:cNvPr id="25" name="Vertice 3"/>
          <p:cNvSpPr/>
          <p:nvPr/>
        </p:nvSpPr>
        <p:spPr>
          <a:xfrm>
            <a:off x="4544568" y="2487168"/>
            <a:ext cx="329184" cy="329184"/>
          </a:xfrm>
          <a:prstGeom prst="ellipse">
            <a:avLst/>
          </a:prstGeom>
          <a:solidFill>
            <a:srgbClr val="DCE8FD"/>
          </a:solidFill>
          <a:ln w="19050">
            <a:solidFill>
              <a:srgbClr val="004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132190"/>
                </a:solidFill>
                <a:latin typeface="Arial"/>
              </a:rPr>
              <a:t>3</a:t>
            </a:r>
          </a:p>
        </p:txBody>
      </p:sp>
      <p:sp>
        <p:nvSpPr>
          <p:cNvPr id="26" name="Vertice 4"/>
          <p:cNvSpPr/>
          <p:nvPr/>
        </p:nvSpPr>
        <p:spPr>
          <a:xfrm>
            <a:off x="3584447" y="2967227"/>
            <a:ext cx="329184" cy="329184"/>
          </a:xfrm>
          <a:prstGeom prst="ellipse">
            <a:avLst/>
          </a:prstGeom>
          <a:solidFill>
            <a:srgbClr val="D9480F"/>
          </a:solidFill>
          <a:ln w="1905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10712" y="34290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5B6478"/>
                </a:solidFill>
                <a:latin typeface="Arial"/>
              </a:rPr>
              <a:t>nessa ordem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10712" y="36118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 i="0">
                <a:solidFill>
                  <a:srgbClr val="132190"/>
                </a:solidFill>
                <a:latin typeface="Arial"/>
              </a:rPr>
              <a:t>id = [1, 1, 1, 0]</a:t>
            </a:r>
          </a:p>
        </p:txBody>
      </p:sp>
      <p:sp>
        <p:nvSpPr>
          <p:cNvPr id="29" name="Codigo"/>
          <p:cNvSpPr/>
          <p:nvPr/>
        </p:nvSpPr>
        <p:spPr>
          <a:xfrm>
            <a:off x="5760720" y="1417320"/>
            <a:ext cx="269748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9D5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73152" tIns="91440" bIns="73152"/>
          <a:lstStyle/>
          <a:p>
            <a:pPr algn="l">
              <a:lnSpc>
                <a:spcPct val="102000"/>
              </a:lnSpc>
            </a:pPr>
            <a:r>
              <a:rPr sz="1100" b="1" i="0">
                <a:solidFill>
                  <a:srgbClr val="5B6478"/>
                </a:solidFill>
                <a:latin typeface="Consolas"/>
              </a:rPr>
              <a:t>v  ação          id</a:t>
            </a:r>
          </a:p>
          <a:p>
            <a:pPr algn="l">
              <a:lnSpc>
                <a:spcPct val="102000"/>
              </a:lnSpc>
            </a:pPr>
          </a:p>
          <a:p>
            <a:pPr algn="l">
              <a:lnSpc>
                <a:spcPct val="102000"/>
              </a:lnSpc>
            </a:pPr>
            <a:r>
              <a:rPr sz="1100" b="1" i="0">
                <a:solidFill>
                  <a:srgbClr val="D9480F"/>
                </a:solidFill>
                <a:latin typeface="Consolas"/>
              </a:rPr>
              <a:t>4  marca {4}     0</a:t>
            </a:r>
          </a:p>
          <a:p>
            <a:pPr algn="l">
              <a:lnSpc>
                <a:spcPct val="102000"/>
              </a:lnSpc>
            </a:pPr>
            <a:r>
              <a:rPr sz="1100" b="1" i="0">
                <a:solidFill>
                  <a:srgbClr val="004AF7"/>
                </a:solidFill>
                <a:latin typeface="Consolas"/>
              </a:rPr>
              <a:t>1  marca {1,2,3} 1</a:t>
            </a:r>
          </a:p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5B6478"/>
                </a:solidFill>
                <a:latin typeface="Consolas"/>
              </a:rPr>
              <a:t>   (1→4 já marcado)</a:t>
            </a:r>
          </a:p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5B6478"/>
                </a:solidFill>
                <a:latin typeface="Consolas"/>
              </a:rPr>
              <a:t>3  já marcado    –</a:t>
            </a:r>
          </a:p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5B6478"/>
                </a:solidFill>
                <a:latin typeface="Consolas"/>
              </a:rPr>
              <a:t>2  já marcado    –</a:t>
            </a:r>
          </a:p>
          <a:p>
            <a:pPr algn="l">
              <a:lnSpc>
                <a:spcPct val="102000"/>
              </a:lnSpc>
            </a:pPr>
          </a:p>
          <a:p>
            <a:pPr algn="l">
              <a:lnSpc>
                <a:spcPct val="102000"/>
              </a:lnSpc>
            </a:pPr>
            <a:r>
              <a:rPr sz="1100" b="1" i="0">
                <a:solidFill>
                  <a:srgbClr val="132190"/>
                </a:solidFill>
                <a:latin typeface="Consolas"/>
              </a:rPr>
              <a:t>count =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11480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Cada DFS iniciada na fase 2 </a:t>
            </a:r>
            <a:r>
              <a:rPr sz="1400" b="1" i="0">
                <a:solidFill>
                  <a:srgbClr val="132190"/>
                </a:solidFill>
                <a:latin typeface="Arial"/>
              </a:rPr>
              <a:t>= exatamente uma componente (count++)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274320"/>
            <a:ext cx="7818120" cy="1051560"/>
          </a:xfrm>
        </p:spPr>
        <p:txBody>
          <a:bodyPr/>
          <a:lstStyle/>
          <a:p>
            <a:pPr algn="l">
              <a:spcAft>
                <a:spcPts val="200"/>
              </a:spcAft>
            </a:pPr>
            <a:r>
              <a:rPr sz="2850" b="1" i="0">
                <a:solidFill>
                  <a:srgbClr val="132190"/>
                </a:solidFill>
                <a:latin typeface="Arial"/>
              </a:rPr>
              <a:t>Da contagem à resposta</a:t>
            </a:r>
          </a:p>
          <a:p>
            <a:pPr algn="l"/>
            <a:r>
              <a:rPr sz="1500" b="0" i="0">
                <a:solidFill>
                  <a:srgbClr val="004AF7"/>
                </a:solidFill>
                <a:latin typeface="Arial"/>
              </a:rPr>
              <a:t>count e id[ ] já respondem tudo</a:t>
            </a:r>
          </a:p>
        </p:txBody>
      </p:sp>
      <p:sp>
        <p:nvSpPr>
          <p:cNvPr id="3" name="Texto"/>
          <p:cNvSpPr txBox="1"/>
          <p:nvPr/>
        </p:nvSpPr>
        <p:spPr>
          <a:xfrm>
            <a:off x="731520" y="1554480"/>
            <a:ext cx="393192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count == 1 → YES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count &gt; 1 → NO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Componente id 0 é um sumidouro: nenhuma seta sai dela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a = qualquer cidade com id 0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b = qualquer cidade com id ≠ 0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132190"/>
                </a:solidFill>
                <a:latin typeface="Arial"/>
              </a:rPr>
              <a:t>Não existe rota de a até b, por construção</a:t>
            </a:r>
          </a:p>
        </p:txBody>
      </p:sp>
      <p:sp>
        <p:nvSpPr>
          <p:cNvPr id="4" name="Card"/>
          <p:cNvSpPr/>
          <p:nvPr/>
        </p:nvSpPr>
        <p:spPr>
          <a:xfrm>
            <a:off x="4892040" y="1417320"/>
            <a:ext cx="3566160" cy="2560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9D5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" name="Seta"/>
          <p:cNvCxnSpPr/>
          <p:nvPr/>
        </p:nvCxnSpPr>
        <p:spPr>
          <a:xfrm>
            <a:off x="5641848" y="1783080"/>
            <a:ext cx="882396" cy="0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eta"/>
          <p:cNvCxnSpPr/>
          <p:nvPr/>
        </p:nvCxnSpPr>
        <p:spPr>
          <a:xfrm>
            <a:off x="6743700" y="1984248"/>
            <a:ext cx="0" cy="448056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eta"/>
          <p:cNvCxnSpPr/>
          <p:nvPr/>
        </p:nvCxnSpPr>
        <p:spPr>
          <a:xfrm flipH="1" flipV="1">
            <a:off x="5623278" y="1904812"/>
            <a:ext cx="953040" cy="635360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eta"/>
          <p:cNvCxnSpPr/>
          <p:nvPr/>
        </p:nvCxnSpPr>
        <p:spPr>
          <a:xfrm>
            <a:off x="5440680" y="1984248"/>
            <a:ext cx="0" cy="1099565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eta"/>
          <p:cNvCxnSpPr/>
          <p:nvPr/>
        </p:nvCxnSpPr>
        <p:spPr>
          <a:xfrm flipH="1">
            <a:off x="5636967" y="2741725"/>
            <a:ext cx="926802" cy="463401"/>
          </a:xfrm>
          <a:prstGeom prst="line">
            <a:avLst/>
          </a:prstGeom>
          <a:ln w="22225">
            <a:solidFill>
              <a:srgbClr val="1321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Vertice 1"/>
          <p:cNvSpPr/>
          <p:nvPr/>
        </p:nvSpPr>
        <p:spPr>
          <a:xfrm>
            <a:off x="5239512" y="1581912"/>
            <a:ext cx="402336" cy="402336"/>
          </a:xfrm>
          <a:prstGeom prst="ellipse">
            <a:avLst/>
          </a:prstGeom>
          <a:solidFill>
            <a:srgbClr val="DCE8FD"/>
          </a:solidFill>
          <a:ln w="19050">
            <a:solidFill>
              <a:srgbClr val="004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32190"/>
                </a:solidFill>
                <a:latin typeface="Arial"/>
              </a:rPr>
              <a:t>1</a:t>
            </a:r>
          </a:p>
        </p:txBody>
      </p:sp>
      <p:sp>
        <p:nvSpPr>
          <p:cNvPr id="11" name="Vertice 2"/>
          <p:cNvSpPr/>
          <p:nvPr/>
        </p:nvSpPr>
        <p:spPr>
          <a:xfrm>
            <a:off x="6542532" y="1581912"/>
            <a:ext cx="402336" cy="402336"/>
          </a:xfrm>
          <a:prstGeom prst="ellipse">
            <a:avLst/>
          </a:prstGeom>
          <a:solidFill>
            <a:srgbClr val="DCE8FD"/>
          </a:solidFill>
          <a:ln w="19050">
            <a:solidFill>
              <a:srgbClr val="004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32190"/>
                </a:solidFill>
                <a:latin typeface="Arial"/>
              </a:rPr>
              <a:t>2</a:t>
            </a:r>
          </a:p>
        </p:txBody>
      </p:sp>
      <p:sp>
        <p:nvSpPr>
          <p:cNvPr id="12" name="Vertice 3"/>
          <p:cNvSpPr/>
          <p:nvPr/>
        </p:nvSpPr>
        <p:spPr>
          <a:xfrm>
            <a:off x="6542532" y="2450591"/>
            <a:ext cx="402336" cy="402336"/>
          </a:xfrm>
          <a:prstGeom prst="ellipse">
            <a:avLst/>
          </a:prstGeom>
          <a:solidFill>
            <a:srgbClr val="DCE8FD"/>
          </a:solidFill>
          <a:ln w="19050">
            <a:solidFill>
              <a:srgbClr val="004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32190"/>
                </a:solidFill>
                <a:latin typeface="Arial"/>
              </a:rPr>
              <a:t>3</a:t>
            </a:r>
          </a:p>
        </p:txBody>
      </p:sp>
      <p:sp>
        <p:nvSpPr>
          <p:cNvPr id="13" name="Vertice 4"/>
          <p:cNvSpPr/>
          <p:nvPr/>
        </p:nvSpPr>
        <p:spPr>
          <a:xfrm>
            <a:off x="5239512" y="3102101"/>
            <a:ext cx="402336" cy="402336"/>
          </a:xfrm>
          <a:prstGeom prst="ellipse">
            <a:avLst/>
          </a:prstGeom>
          <a:solidFill>
            <a:srgbClr val="D9480F"/>
          </a:solidFill>
          <a:ln w="19050">
            <a:solidFill>
              <a:srgbClr val="D948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32918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D9480F"/>
                </a:solidFill>
                <a:latin typeface="Arial"/>
              </a:rPr>
              <a:t>id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14813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004AF7"/>
                </a:solidFill>
                <a:latin typeface="Arial"/>
              </a:rPr>
              <a:t>id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1691640"/>
            <a:ext cx="1143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 i="0">
                <a:solidFill>
                  <a:srgbClr val="5B6478"/>
                </a:solidFill>
                <a:latin typeface="Arial"/>
              </a:rPr>
              <a:t>Saída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1" i="0">
                <a:solidFill>
                  <a:srgbClr val="132190"/>
                </a:solidFill>
                <a:latin typeface="Consolas"/>
              </a:rPr>
              <a:t>NO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600" b="1" i="0">
                <a:solidFill>
                  <a:srgbClr val="132190"/>
                </a:solidFill>
                <a:latin typeface="Consolas"/>
              </a:rPr>
              <a:t>4 1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74320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5B6478"/>
                </a:solidFill>
                <a:latin typeface="Arial"/>
              </a:rPr>
              <a:t>enunciado: 4 2 — os dois valem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274320"/>
            <a:ext cx="7818120" cy="1051560"/>
          </a:xfrm>
        </p:spPr>
        <p:txBody>
          <a:bodyPr/>
          <a:lstStyle/>
          <a:p>
            <a:pPr algn="l">
              <a:spcAft>
                <a:spcPts val="200"/>
              </a:spcAft>
            </a:pPr>
            <a:r>
              <a:rPr sz="2850" b="1" i="0">
                <a:solidFill>
                  <a:srgbClr val="132190"/>
                </a:solidFill>
                <a:latin typeface="Arial"/>
              </a:rPr>
              <a:t>Estruturas e custo</a:t>
            </a:r>
          </a:p>
          <a:p>
            <a:pPr algn="l"/>
            <a:r>
              <a:rPr sz="1500" b="0" i="0">
                <a:solidFill>
                  <a:srgbClr val="004AF7"/>
                </a:solidFill>
                <a:latin typeface="Arial"/>
              </a:rPr>
              <a:t>O que o código usa (algs4)</a:t>
            </a:r>
          </a:p>
        </p:txBody>
      </p:sp>
      <p:sp>
        <p:nvSpPr>
          <p:cNvPr id="3" name="Texto"/>
          <p:cNvSpPr txBox="1"/>
          <p:nvPr/>
        </p:nvSpPr>
        <p:spPr>
          <a:xfrm>
            <a:off x="731520" y="1554480"/>
            <a:ext cx="35661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132190"/>
                </a:solidFill>
                <a:latin typeface="Arial"/>
              </a:rPr>
              <a:t>Digraph  </a:t>
            </a:r>
            <a:r>
              <a:rPr sz="1400" b="0" i="0">
                <a:solidFill>
                  <a:srgbClr val="1A1A1A"/>
                </a:solidFill>
                <a:latin typeface="Arial"/>
              </a:rPr>
              <a:t>listas de adjacência (Bag) e reverse() → Gᵀ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132190"/>
                </a:solidFill>
                <a:latin typeface="Arial"/>
              </a:rPr>
              <a:t>Stack  </a:t>
            </a:r>
            <a:r>
              <a:rPr sz="1400" b="0" i="0">
                <a:solidFill>
                  <a:srgbClr val="1A1A1A"/>
                </a:solidFill>
                <a:latin typeface="Arial"/>
              </a:rPr>
              <a:t>guarda a pós-ordem reversa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132190"/>
                </a:solidFill>
                <a:latin typeface="Arial"/>
              </a:rPr>
              <a:t>marked[ ], id[ ]  </a:t>
            </a:r>
            <a:r>
              <a:rPr sz="1400" b="0" i="0">
                <a:solidFill>
                  <a:srgbClr val="1A1A1A"/>
                </a:solidFill>
                <a:latin typeface="Arial"/>
              </a:rPr>
              <a:t>visitado e componente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132190"/>
                </a:solidFill>
                <a:latin typeface="Arial"/>
              </a:rPr>
              <a:t>O(V + E)  </a:t>
            </a:r>
            <a:r>
              <a:rPr sz="1400" b="0" i="0">
                <a:solidFill>
                  <a:srgbClr val="1A1A1A"/>
                </a:solidFill>
                <a:latin typeface="Arial"/>
              </a:rPr>
              <a:t>duas DFS + construção de Gᵀ</a:t>
            </a:r>
          </a:p>
        </p:txBody>
      </p:sp>
      <p:sp>
        <p:nvSpPr>
          <p:cNvPr id="4" name="Codigo"/>
          <p:cNvSpPr/>
          <p:nvPr/>
        </p:nvSpPr>
        <p:spPr>
          <a:xfrm>
            <a:off x="4480560" y="1417320"/>
            <a:ext cx="3977639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9D5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73152" tIns="91440" bIns="73152"/>
          <a:lstStyle/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5B6478"/>
                </a:solidFill>
                <a:latin typeface="Consolas"/>
              </a:rPr>
              <a:t>// fase 1: ordem topológica de Gᵀ</a:t>
            </a:r>
          </a:p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1A1A1A"/>
                </a:solidFill>
                <a:latin typeface="Consolas"/>
              </a:rPr>
              <a:t>DepthFirstOrder ordem =</a:t>
            </a:r>
          </a:p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1A1A1A"/>
                </a:solidFill>
                <a:latin typeface="Consolas"/>
              </a:rPr>
              <a:t>    new DepthFirstOrder(G.reverse());</a:t>
            </a:r>
          </a:p>
          <a:p>
            <a:pPr algn="l">
              <a:lnSpc>
                <a:spcPct val="102000"/>
              </a:lnSpc>
            </a:pPr>
          </a:p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5B6478"/>
                </a:solidFill>
                <a:latin typeface="Consolas"/>
              </a:rPr>
              <a:t>// fase 2: DFS em G nessa ordem</a:t>
            </a:r>
          </a:p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1A1A1A"/>
                </a:solidFill>
                <a:latin typeface="Consolas"/>
              </a:rPr>
              <a:t>for (int v : ordem.reversePost())</a:t>
            </a:r>
          </a:p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1A1A1A"/>
                </a:solidFill>
                <a:latin typeface="Consolas"/>
              </a:rPr>
              <a:t>    if (!marked[v]) {</a:t>
            </a:r>
          </a:p>
          <a:p>
            <a:pPr algn="l">
              <a:lnSpc>
                <a:spcPct val="102000"/>
              </a:lnSpc>
            </a:pPr>
            <a:r>
              <a:rPr sz="1050" b="1" i="0">
                <a:solidFill>
                  <a:srgbClr val="004AF7"/>
                </a:solidFill>
                <a:latin typeface="Consolas"/>
              </a:rPr>
              <a:t>        dfs(G, v);   // id[w] = count</a:t>
            </a:r>
          </a:p>
          <a:p>
            <a:pPr algn="l">
              <a:lnSpc>
                <a:spcPct val="102000"/>
              </a:lnSpc>
            </a:pPr>
            <a:r>
              <a:rPr sz="1050" b="1" i="0">
                <a:solidFill>
                  <a:srgbClr val="004AF7"/>
                </a:solidFill>
                <a:latin typeface="Consolas"/>
              </a:rPr>
              <a:t>        count++;</a:t>
            </a:r>
          </a:p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1A1A1A"/>
                </a:solidFill>
                <a:latin typeface="Consolas"/>
              </a:rPr>
              <a:t>    }</a:t>
            </a:r>
          </a:p>
        </p:txBody>
      </p:sp>
      <p:sp>
        <p:nvSpPr>
          <p:cNvPr id="5" name="Card"/>
          <p:cNvSpPr/>
          <p:nvPr/>
        </p:nvSpPr>
        <p:spPr>
          <a:xfrm>
            <a:off x="4480560" y="3566160"/>
            <a:ext cx="329184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9D5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617720" y="3639312"/>
            <a:ext cx="3063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 i="0">
                <a:solidFill>
                  <a:srgbClr val="D9480F"/>
                </a:solidFill>
                <a:latin typeface="Arial"/>
              </a:rPr>
              <a:t>Recursão de até 100.000 níveis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 i="0">
                <a:solidFill>
                  <a:srgbClr val="1A1A1A"/>
                </a:solidFill>
                <a:latin typeface="Arial"/>
              </a:rPr>
              <a:t>BFS não serve: não tem pós-ordem. DFS mantida, numa Thread com 256 MB de pilha.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274320"/>
            <a:ext cx="7818120" cy="1051560"/>
          </a:xfrm>
        </p:spPr>
        <p:txBody>
          <a:bodyPr/>
          <a:lstStyle/>
          <a:p>
            <a:pPr algn="l">
              <a:spcAft>
                <a:spcPts val="200"/>
              </a:spcAft>
            </a:pPr>
            <a:r>
              <a:rPr sz="2850" b="1" i="0">
                <a:solidFill>
                  <a:srgbClr val="132190"/>
                </a:solidFill>
                <a:latin typeface="Arial"/>
              </a:rPr>
              <a:t>Validação e resultados</a:t>
            </a:r>
          </a:p>
          <a:p>
            <a:pPr algn="l"/>
            <a:r>
              <a:rPr sz="1500" b="0" i="0">
                <a:solidFill>
                  <a:srgbClr val="004AF7"/>
                </a:solidFill>
                <a:latin typeface="Arial"/>
              </a:rPr>
              <a:t>Testes, complexidade e submissão</a:t>
            </a:r>
          </a:p>
        </p:txBody>
      </p:sp>
      <p:sp>
        <p:nvSpPr>
          <p:cNvPr id="3" name="Texto"/>
          <p:cNvSpPr txBox="1"/>
          <p:nvPr/>
        </p:nvSpPr>
        <p:spPr>
          <a:xfrm>
            <a:off x="731520" y="1554480"/>
            <a:ext cx="342900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8 casos pequenos + 5 de estresse: todos corretos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Cada NO conferido por BFS de a até b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0" i="0">
                <a:solidFill>
                  <a:srgbClr val="1A1A1A"/>
                </a:solidFill>
                <a:latin typeface="Arial"/>
              </a:rPr>
              <a:t>Ciclos ligados num só sentido: NO (sem direção daria YES)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1" i="0">
                <a:solidFill>
                  <a:srgbClr val="132190"/>
                </a:solidFill>
                <a:latin typeface="Arial"/>
              </a:rPr>
              <a:t>ACCEPTED no CSES — 20/20 testes, pior 0,97 s</a:t>
            </a:r>
          </a:p>
        </p:txBody>
      </p:sp>
      <p:sp>
        <p:nvSpPr>
          <p:cNvPr id="4" name="Codigo"/>
          <p:cNvSpPr/>
          <p:nvPr/>
        </p:nvSpPr>
        <p:spPr>
          <a:xfrm>
            <a:off x="4343400" y="1554480"/>
            <a:ext cx="4114800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9D5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28016" rIns="73152" tIns="91440" bIns="73152"/>
          <a:lstStyle/>
          <a:p>
            <a:pPr algn="l">
              <a:lnSpc>
                <a:spcPct val="102000"/>
              </a:lnSpc>
            </a:pPr>
            <a:r>
              <a:rPr sz="1050" b="1" i="0">
                <a:solidFill>
                  <a:srgbClr val="004AF7"/>
                </a:solidFill>
                <a:latin typeface="Consolas"/>
              </a:rPr>
              <a:t>caso                 esper.  obtido</a:t>
            </a:r>
          </a:p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1A1A1A"/>
                </a:solidFill>
                <a:latin typeface="Consolas"/>
              </a:rPr>
              <a:t>exemplo oficial        NO     NO 4 1</a:t>
            </a:r>
          </a:p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1A1A1A"/>
                </a:solidFill>
                <a:latin typeface="Consolas"/>
              </a:rPr>
              <a:t>ciclo único            YES    YES</a:t>
            </a:r>
          </a:p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1A1A1A"/>
                </a:solidFill>
                <a:latin typeface="Consolas"/>
              </a:rPr>
              <a:t>cidade com laço        YES    YES</a:t>
            </a:r>
          </a:p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1A1A1A"/>
                </a:solidFill>
                <a:latin typeface="Consolas"/>
              </a:rPr>
              <a:t>caminho 1→2→3          NO     NO 3 1</a:t>
            </a:r>
          </a:p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1A1A1A"/>
                </a:solidFill>
                <a:latin typeface="Consolas"/>
              </a:rPr>
              <a:t>ciclos, 1 sentido      NO     NO 3 1</a:t>
            </a:r>
          </a:p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1A1A1A"/>
                </a:solidFill>
                <a:latin typeface="Consolas"/>
              </a:rPr>
              <a:t>cidade isolada         NO     NO 3 1</a:t>
            </a:r>
          </a:p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1A1A1A"/>
                </a:solidFill>
                <a:latin typeface="Consolas"/>
              </a:rPr>
              <a:t>ciclo 100.000          YES    YES  0,22s</a:t>
            </a:r>
          </a:p>
          <a:p>
            <a:pPr algn="l">
              <a:lnSpc>
                <a:spcPct val="102000"/>
              </a:lnSpc>
            </a:pPr>
            <a:r>
              <a:rPr sz="1050" b="0" i="0">
                <a:solidFill>
                  <a:srgbClr val="1A1A1A"/>
                </a:solidFill>
                <a:latin typeface="Consolas"/>
              </a:rPr>
              <a:t>10⁵ V, 2·10⁵ E         NO     NO   0,27s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nifor">
  <a:themeElements>
    <a:clrScheme name="Simple Light">
      <a:dk1>
        <a:srgbClr val="004AF7"/>
      </a:dk1>
      <a:lt1>
        <a:srgbClr val="E4F2FE"/>
      </a:lt1>
      <a:dk2>
        <a:srgbClr val="132190"/>
      </a:dk2>
      <a:lt2>
        <a:srgbClr val="87B7FE"/>
      </a:lt2>
      <a:accent1>
        <a:srgbClr val="004AF7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4AF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
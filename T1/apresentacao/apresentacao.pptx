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3"/>
  </p:sldMasterIdLst>
  <p:notesMasterIdLst>
    <p:notesMasterId r:id="rId4"/>
  </p:notesMasterIdLst>
  <p:sldIdLst>
    <p:sldId id="256" r:id="rId5"/>
    <p:sldId id="257" r:id="rId6"/>
    <p:sldId id="258" r:id="rId7"/>
    <p:sldId id="260" r:id="rId13"/>
    <p:sldId id="261" r:id="rId14"/>
    <p:sldId id="262" r:id="rId15"/>
    <p:sldId id="263" r:id="rId16"/>
    <p:sldId id="259" r:id="rId8"/>
  </p:sldIdLst>
  <p:sldSz cy="5143500" cx="9144000"/>
  <p:notesSz cx="6858000" cy="9144000"/>
  <p:embeddedFontLst>
    <p:embeddedFont>
      <p:font typeface="Albert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font" Target="fonts/AlbertSans-regular.fntdata"/><Relationship Id="rId10" Type="http://schemas.openxmlformats.org/officeDocument/2006/relationships/font" Target="fonts/AlbertSans-bold.fntdata"/><Relationship Id="rId11" Type="http://schemas.openxmlformats.org/officeDocument/2006/relationships/font" Target="fonts/AlbertSans-italic.fntdata"/><Relationship Id="rId12" Type="http://schemas.openxmlformats.org/officeDocument/2006/relationships/font" Target="fonts/AlbertSans-boldItalic.fntdata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Capa (~20 s). Bom dia. Nosso trabalho e o problema Counting Rooms, o 1192 do CSES. A ideia e contar quantas salas existem em um mapa, e vamos mostrar como isso vira um problema de grafos.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Slide 1 (~1 min). O mapa e uma grade de paredes e pisos. So da para andar na horizontal e na vertical, nunca na diagonal. A pergunta e quantas regioes de piso separadas existem. No exemplo sao tres. O detalhe que manda no trabalho e a restricao: mil por mil, ou seja, um milhao de posicoes.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2 (~1 min). Cada piso virou um vertice e cada par de pisos vizinhos virou uma aresta. As paredes simplesmente nao existem no grafo. Como da para ir e voltar entre dois pisos, o grafo e nao direcionado, e como existem regioes isoladas, ele e desconexo. Na instancia pequena sao 12 vertices e 10 arestas. A partir daqui o problema deixa de ser sobre mapa: contar salas e contar componentes conexos.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3 (~1 min). Escolhemos a representacao implicita: nao montamos lista de adjacencia nenhuma, a matriz do mapa ja e o grafo. Os vizinhos saem desses dois vetores de deslocamento — cima, baixo, esquerda e direita. A aresta so existe se a posicao estiver dentro da matriz e for piso. O motivo e o tamanho: com um milhao de vertices, guardar as arestas explicitamente custaria memoria a toa, ja que cada vertice tem no maximo quatro vizinhos.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4 (~1 min). Este laco e o de algs4.CC: varre a matriz e, toda vez que acha um piso ainda nao marcado, dispara uma busca e soma um. Cada busca cobre uma sala inteira. Implementamos DFS primeiro, no marco 3, e ela da a resposta certa — mas estoura. Num mapa mil por mil aberto a recursao empilha um milhao de chamadas e a JVM lanca StackOverflowError. A BFS troca a pilha de chamadas por uma fila explicita, e a fila so guarda a fronteira da busca: o pico foi de mil, mil vezes menor. Mesma complexidade, mesma resposta — a diferenca e onde cada uma guarda o estado.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5 (~1 min). Testamos seis casos pequenos e dois de estresse. O caso das diagonais foi de proposito: se a adjacencia estivesse errada, aceitando diagonal, ele daria 1 em vez de 4. Os dois de estresse cobrem os extremos — uma regiao com um milhao de vertices e quinhentas mil regioes minimas — e os dois rodam em menos de tres decimos de segundo. A complexidade e O de H vezes W, linear no numero de posicoes, porque cada piso entra na fila uma vez so. Com isso o codigo recebeu Accepted no CSES, passando nos 19 testes do juiz, com pior tempo de 0,34 segundo contra um limite de 1 segundo. Obrigado, estamos a disposicao para perguntas.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Claro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- Claro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Albert Sans"/>
              <a:buNone/>
              <a:defRPr sz="4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24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Claro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745875" y="230200"/>
            <a:ext cx="7818000" cy="13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Albert Sans"/>
              <a:buNone/>
              <a:defRPr sz="35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Claro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Claro">
  <p:cSld name="BLANK_2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Claro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686600"/>
            <a:ext cx="3924300" cy="37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"/>
              <a:buNone/>
              <a:defRPr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Claro">
  <p:cSld name="TITLE_ONLY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8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Albert Sans"/>
              <a:buChar char="●"/>
              <a:defRPr sz="1600"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●"/>
              <a:defRPr sz="1200"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○"/>
              <a:defRPr sz="1200"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"/>
              <a:buChar char="■"/>
              <a:defRPr sz="1200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Claro">
  <p:cSld name="TITLE_ONLY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●"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○"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Char char="■"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- Escuro">
  <p:cSld name="BLANK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" name="Google Shape;4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subtítulo - Escuro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2"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Albert Sans"/>
              <a:buNone/>
              <a:defRPr b="1" sz="4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None/>
              <a:defRPr b="1" sz="4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lbert Sans"/>
              <a:buNone/>
              <a:defRPr sz="24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- Escuro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0" name="Google Shape;50;p12"/>
          <p:cNvSpPr txBox="1"/>
          <p:nvPr>
            <p:ph type="title"/>
          </p:nvPr>
        </p:nvSpPr>
        <p:spPr>
          <a:xfrm>
            <a:off x="745875" y="230200"/>
            <a:ext cx="78180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b="1"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lbert Sans"/>
              <a:buNone/>
              <a:defRPr sz="35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702350" y="1688325"/>
            <a:ext cx="7766400" cy="24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3 - Escuro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269625"/>
            <a:ext cx="8520600" cy="34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colunas - Escuro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1432500"/>
            <a:ext cx="3924300" cy="22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lbert Sans"/>
              <a:buNone/>
              <a:defRPr b="1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889400" y="756375"/>
            <a:ext cx="39243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ês colunas - Escuro">
  <p:cSld name="BIG_NUMBER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9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3277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3" type="body"/>
          </p:nvPr>
        </p:nvSpPr>
        <p:spPr>
          <a:xfrm>
            <a:off x="6325625" y="756375"/>
            <a:ext cx="2593200" cy="34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lbert Sans"/>
              <a:buChar char="●"/>
              <a:defRPr sz="16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●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○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lbert Sans"/>
              <a:buChar char="■"/>
              <a:defRPr sz="12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vre - Escuro">
  <p:cSld name="BIG_NUMBER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540150" y="538950"/>
            <a:ext cx="8063700" cy="4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●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○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Char char="■"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ogo 2 - Escuro">
  <p:cSld name="BLANK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Claro" type="tx">
  <p:cSld name="TITLE_AND_BOD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8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Font typeface="Albert Sans"/>
              <a:buNone/>
              <a:defRPr b="1" sz="3300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  <p:sp>
        <p:nvSpPr>
          <p:cNvPr id="73" name="Google Shape;73;p18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lbert Sans"/>
              <a:buNone/>
              <a:defRPr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2 - Escuro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9"/>
          <p:cNvSpPr txBox="1"/>
          <p:nvPr>
            <p:ph type="title"/>
          </p:nvPr>
        </p:nvSpPr>
        <p:spPr>
          <a:xfrm>
            <a:off x="699850" y="709050"/>
            <a:ext cx="7698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lbert Sans"/>
              <a:buNone/>
              <a:defRPr b="1" sz="33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9"/>
          <p:cNvSpPr txBox="1"/>
          <p:nvPr>
            <p:ph idx="1" type="subTitle"/>
          </p:nvPr>
        </p:nvSpPr>
        <p:spPr>
          <a:xfrm>
            <a:off x="699850" y="3272450"/>
            <a:ext cx="7698300" cy="8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lbert Sans"/>
              <a:buNone/>
              <a:defRPr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4300"/>
              <a:buNone/>
            </a:pPr>
            <a:r>
              <a:rPr sz="4000" b="1">
                <a:solidFill>
                  <a:srgbClr val="132190"/>
                </a:solidFill>
                <a:latin typeface="Arial"/>
              </a:rPr>
              <a:t>Counting Rooms</a:t>
            </a:r>
            <a:endParaRPr b="1"/>
          </a:p>
        </p:txBody>
      </p:sp>
      <p:sp>
        <p:nvSpPr>
          <p:cNvPr id="87" name="Google Shape;87;p21"/>
          <p:cNvSpPr txBox="1"/>
          <p:nvPr>
            <p:ph idx="1" type="subTitle"/>
          </p:nvPr>
        </p:nvSpPr>
        <p:spPr>
          <a:xfrm>
            <a:off x="311700" y="2834125"/>
            <a:ext cx="8520600" cy="17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2400"/>
              <a:buNone/>
            </a:pPr>
            <a:r>
              <a:rPr sz="1800" b="0">
                <a:solidFill>
                  <a:srgbClr val="004AF7"/>
                </a:solidFill>
                <a:latin typeface="Arial"/>
              </a:rPr>
              <a:t>CSES 1192 — contando salas com busca em grafos</a:t>
            </a:r>
            <a:endParaRPr sz="2000"/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Arial"/>
              </a:rPr>
              <a:t>Alunos: Enzo Esmeraldo | Gustavo Andrade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Orientador: Prof. Me. Ricardo Carubbi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Disciplina: Resolução de Problemas com Grafos</a:t>
            </a:r>
          </a:p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Centro de Ciências Tecnológicas - CCT</a:t>
            </a:r>
          </a:p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Universidade de Fortaleza - UNIFOR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type="title"/>
          </p:nvPr>
        </p:nvSpPr>
        <p:spPr>
          <a:xfrm>
            <a:off x="749808" y="274320"/>
            <a:ext cx="7818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3150"/>
              <a:buNone/>
            </a:pPr>
            <a:r>
              <a:rPr sz="2850" b="1">
                <a:solidFill>
                  <a:srgbClr val="132190"/>
                </a:solidFill>
                <a:latin typeface="Arial"/>
              </a:rPr>
              <a:t>O problema</a:t>
            </a:r>
            <a:endParaRPr b="1" sz="2850"/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004AF7"/>
                </a:solidFill>
                <a:latin typeface="Arial"/>
              </a:rPr>
              <a:t>CSES 1192 — Counting Rooms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" y="1444752"/>
            <a:ext cx="3977639" cy="2670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Mapa de H × W com paredes (#) e pisos (.)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Movimento só na horizontal e na vertical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Contar quantas regiões de piso existem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32190"/>
                </a:solidFill>
                <a:latin typeface="Arial"/>
              </a:rPr>
              <a:t>1 ≤ H, W ≤ 1000 → até 1.000.000 de posições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892040" y="1903285"/>
            <a:ext cx="3566160" cy="175298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73152" tIns="91440" bIns="73152" wrap="none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########      ########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#..#...#      #AA#BBB#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####.#.#  →   ####B#B#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#..#...#      #CC#BBB#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>
                <a:solidFill>
                  <a:srgbClr val="1A1A1A"/>
                </a:solidFill>
                <a:latin typeface="Consolas"/>
              </a:rPr>
              <a:t>########      ########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1">
                <a:solidFill>
                  <a:srgbClr val="004AF7"/>
                </a:solidFill>
                <a:latin typeface="Consolas"/>
              </a:rPr>
              <a:t>        Saída: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50" b="1">
                <a:solidFill>
                  <a:srgbClr val="132190"/>
                </a:solidFill>
                <a:latin typeface="Arial"/>
              </a:rPr>
              <a:t>Modelagem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004AF7"/>
                </a:solidFill>
                <a:latin typeface="Arial"/>
              </a:rPr>
              <a:t>De mapa para grafo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44752"/>
            <a:ext cx="3977639" cy="2670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Vértice: cada posição que contém “.”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Aresta: pisos vizinhos na horizontal ou vertical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Paredes (#) ficam fora do grafo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Não direcionado, não ponderado e desconexo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32190"/>
                </a:solidFill>
                <a:latin typeface="Arial"/>
              </a:rPr>
              <a:t>Contar salas = contar componentes conexos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92040" y="1727073"/>
            <a:ext cx="3566160" cy="21054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73152" tIns="91440" bIns="73152" wrap="none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    1 2 3 4 5 6 7 8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1   # # # # # # # 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2   # . . # . . . 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3   # # # # . # . 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4   # . . # . . . 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>
                <a:solidFill>
                  <a:srgbClr val="1A1A1A"/>
                </a:solidFill>
                <a:latin typeface="Consolas"/>
              </a:rPr>
              <a:t> 5   # # # # # # # #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004AF7"/>
                </a:solidFill>
                <a:latin typeface="Consolas"/>
              </a:rPr>
              <a:t>     |V| = 12   |E| = 10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1">
                <a:solidFill>
                  <a:srgbClr val="004AF7"/>
                </a:solidFill>
                <a:latin typeface="Consolas"/>
              </a:rPr>
              <a:t>     3 componentes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50" b="1">
                <a:solidFill>
                  <a:srgbClr val="132190"/>
                </a:solidFill>
                <a:latin typeface="Arial"/>
              </a:rPr>
              <a:t>Representação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004AF7"/>
                </a:solidFill>
                <a:latin typeface="Arial"/>
              </a:rPr>
              <a:t>Grafo implícito na matriz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44752"/>
            <a:ext cx="3749039" cy="2670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A própria matriz de caracteres é o grafo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Nenhuma aresta é armazenada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Os 4 vizinhos são calculados na hora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444A5A"/>
                </a:solidFill>
                <a:latin typeface="Arial"/>
              </a:rPr>
              <a:t>Aresta existe se: está dentro dos limites e contém “.”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32190"/>
                </a:solidFill>
                <a:latin typeface="Arial"/>
              </a:rPr>
              <a:t>Evita listas de adjacência para 10⁶ vértices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17720" y="1584198"/>
            <a:ext cx="3840480" cy="23911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73152" tIns="91440" bIns="73152" wrap="none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int[] dLinha  = { -1, 1, 0, 0 };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int[] dColuna = {  0, 0, -1, 1 };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int vizLinha  = linha  + dLinha[direcao];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int vizColuna = coluna + dColuna[direcao];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if (vizLinha &lt; 0 || vizLinha &gt;= linhas ||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    vizColuna &lt; 0 || vizColuna &gt;= colunas)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    continue;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if (mapa[vizLinha][vizColuna] != '.' ||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1A1A1A"/>
                </a:solidFill>
                <a:latin typeface="Consolas"/>
              </a:rPr>
              <a:t>    marcado[vizLinha][vizColuna]) continue;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50" b="1">
                <a:solidFill>
                  <a:srgbClr val="132190"/>
                </a:solidFill>
                <a:latin typeface="Arial"/>
              </a:rPr>
              <a:t>Busca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004AF7"/>
                </a:solidFill>
                <a:latin typeface="Arial"/>
              </a:rPr>
              <a:t>DFS no marco 3, BFS na submissão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44752"/>
            <a:ext cx="3840480" cy="1325880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Cada busca iniciada = uma sala (laço de algs4.CC)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DFS recursiva: empilha a região inteira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1A1A1A"/>
                </a:solidFill>
                <a:latin typeface="Arial"/>
              </a:rPr>
              <a:t>BFS: a fila guarda só a fronteira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3840480" cy="9433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73152" tIns="91440" bIns="73152" wrap="none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132190"/>
                </a:solidFill>
                <a:latin typeface="Consolas"/>
              </a:rPr>
              <a:t>mapa 1000×1000 aberto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0">
                <a:solidFill>
                  <a:srgbClr val="C02A2A"/>
                </a:solidFill>
                <a:latin typeface="Consolas"/>
              </a:rPr>
              <a:t>DFS  pilha 1.000.000   StackOverflowError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50" b="1">
                <a:solidFill>
                  <a:srgbClr val="004AF7"/>
                </a:solidFill>
                <a:latin typeface="Consolas"/>
              </a:rPr>
              <a:t>BFS  fila      1.000   0,27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1444752"/>
            <a:ext cx="3840480" cy="19339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73152" tIns="91440" bIns="73152" wrap="none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for (int linha = 0; linha &lt; linhas; linha++)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  for (int coluna = 0; coluna &lt; colunas; coluna++)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    if (mapa[linha][coluna] == '.'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        &amp;&amp; !marcado[linha][coluna]) {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      bfs(linha, coluna);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1">
                <a:solidFill>
                  <a:srgbClr val="004AF7"/>
                </a:solidFill>
                <a:latin typeface="Consolas"/>
              </a:rPr>
              <a:t>      salas++;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    }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// bfs marca ao ENFILEIRAR,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// entao ninguem entra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274320"/>
            <a:ext cx="7818120" cy="1051560"/>
          </a:xfrm>
        </p:spPr>
        <p:txBody>
          <a:bodyPr wrap="square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850" b="1">
                <a:solidFill>
                  <a:srgbClr val="132190"/>
                </a:solidFill>
                <a:latin typeface="Arial"/>
              </a:rPr>
              <a:t>Validação e resultados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004AF7"/>
                </a:solidFill>
                <a:latin typeface="Arial"/>
              </a:rPr>
              <a:t>Testes, complexidade e submissão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44752"/>
            <a:ext cx="3429000" cy="2670048"/>
          </a:xfrm>
          <a:prstGeom prst="rect">
            <a:avLst/>
          </a:prstGeom>
          <a:noFill/>
        </p:spPr>
        <p:txBody>
          <a:bodyPr wrap="square" lIns="0" t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6 casos pequenos + 2 de estresse: todos corretos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Diagonais (espera 4) pega erro de adjacência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0">
                <a:solidFill>
                  <a:srgbClr val="1A1A1A"/>
                </a:solidFill>
                <a:latin typeface="Arial"/>
              </a:rPr>
              <a:t>Xadrez: 500.000 regiões em 0,26 s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132190"/>
                </a:solidFill>
                <a:latin typeface="Arial"/>
              </a:rPr>
              <a:t>Tempo e espaço: O(H · W)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400" b="1">
                <a:solidFill>
                  <a:srgbClr val="004AF7"/>
                </a:solidFill>
                <a:latin typeface="Arial"/>
              </a:rPr>
              <a:t>ACCEPTED no CSES — 19/19 testes, pior 0,34 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898523"/>
            <a:ext cx="4023360" cy="176250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B9D5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28016" rIns="73152" tIns="91440" bIns="73152" wrap="none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1">
                <a:solidFill>
                  <a:srgbClr val="132190"/>
                </a:solidFill>
                <a:latin typeface="Consolas"/>
              </a:rPr>
              <a:t>caso                 esper.    obtido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exemplo oficial           3         3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só paredes                0         0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1×1 com piso              1         1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3×3 aberto                1         1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pisos em diagonal         4         4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uma única linha           3         3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1000×1000 aberto          1         1   0,27s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00" b="0">
                <a:solidFill>
                  <a:srgbClr val="1A1A1A"/>
                </a:solidFill>
                <a:latin typeface="Consolas"/>
              </a:rPr>
              <a:t>1000×1000 xadrez     500000    500000   0,26s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for">
  <a:themeElements>
    <a:clrScheme name="Simple Light">
      <a:dk1>
        <a:srgbClr val="004AF7"/>
      </a:dk1>
      <a:lt1>
        <a:srgbClr val="E4F2FE"/>
      </a:lt1>
      <a:dk2>
        <a:srgbClr val="132190"/>
      </a:dk2>
      <a:lt2>
        <a:srgbClr val="87B7FE"/>
      </a:lt2>
      <a:accent1>
        <a:srgbClr val="004AF7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4A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